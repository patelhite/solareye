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19" roundtripDataSignature="AMtx7miFWyHrB0kErqqyMAEA6NYA0p/Ng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96F72CB-10AD-4DAE-AE5A-50F3F0E7628F}">
  <a:tblStyle styleId="{B96F72CB-10AD-4DAE-AE5A-50F3F0E7628F}"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customschemas.google.com/relationships/presentationmetadata" Target="metadata"/><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f667400058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173" name="Google Shape;173;g3f667400058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 name="Google Shape;19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8" name="Google Shape;20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7" name="Google Shape;21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409ebd7067f_1_414:notes"/>
          <p:cNvSpPr txBox="1"/>
          <p:nvPr>
            <p:ph idx="2" type="hdr"/>
          </p:nvPr>
        </p:nvSpPr>
        <p:spPr>
          <a:xfrm>
            <a:off x="0" y="0"/>
            <a:ext cx="2971800" cy="458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g409ebd7067f_1_414:notes"/>
          <p:cNvSpPr txBox="1"/>
          <p:nvPr>
            <p:ph idx="10" type="dt"/>
          </p:nvPr>
        </p:nvSpPr>
        <p:spPr>
          <a:xfrm>
            <a:off x="3884613" y="0"/>
            <a:ext cx="2971800" cy="4587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t/>
            </a:r>
            <a:endParaRPr/>
          </a:p>
        </p:txBody>
      </p:sp>
      <p:sp>
        <p:nvSpPr>
          <p:cNvPr id="236" name="Google Shape;236;g409ebd7067f_1_414: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g409ebd7067f_1_4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g409ebd7067f_1_414:notes"/>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g409ebd7067f_1_4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2" name="Google Shape;26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0" name="Google Shape;33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914400" y="2130426"/>
            <a:ext cx="103632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2"/>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2"/>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2"/>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21" name="Google Shape;21;p12"/>
          <p:cNvPicPr preferRelativeResize="0"/>
          <p:nvPr/>
        </p:nvPicPr>
        <p:blipFill rotWithShape="1">
          <a:blip r:embed="rId2">
            <a:alphaModFix/>
          </a:blip>
          <a:srcRect b="0" l="0" r="0" t="0"/>
          <a:stretch/>
        </p:blipFill>
        <p:spPr>
          <a:xfrm>
            <a:off x="10226037" y="0"/>
            <a:ext cx="1965963" cy="56899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1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3"/>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5" name="Google Shape;25;p13"/>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3"/>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28" name="Google Shape;28;p13" title="SOU_LOGO_new-removebg (1) (9).png"/>
          <p:cNvPicPr preferRelativeResize="0"/>
          <p:nvPr/>
        </p:nvPicPr>
        <p:blipFill rotWithShape="1">
          <a:blip r:embed="rId2">
            <a:alphaModFix/>
          </a:blip>
          <a:srcRect b="0" l="0" r="0" t="0"/>
          <a:stretch/>
        </p:blipFill>
        <p:spPr>
          <a:xfrm>
            <a:off x="9815721" y="0"/>
            <a:ext cx="2376274" cy="5138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14"/>
          <p:cNvSpPr txBox="1"/>
          <p:nvPr>
            <p:ph type="title"/>
          </p:nvPr>
        </p:nvSpPr>
        <p:spPr>
          <a:xfrm>
            <a:off x="963084" y="4406901"/>
            <a:ext cx="103632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4"/>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2" name="Google Shape;32;p14"/>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4"/>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1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5"/>
          <p:cNvSpPr txBox="1"/>
          <p:nvPr>
            <p:ph idx="1" type="body"/>
          </p:nvPr>
        </p:nvSpPr>
        <p:spPr>
          <a:xfrm>
            <a:off x="609600" y="1600201"/>
            <a:ext cx="53848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8" name="Google Shape;38;p15"/>
          <p:cNvSpPr txBox="1"/>
          <p:nvPr>
            <p:ph idx="2" type="body"/>
          </p:nvPr>
        </p:nvSpPr>
        <p:spPr>
          <a:xfrm>
            <a:off x="6197600" y="1600201"/>
            <a:ext cx="53848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9" name="Google Shape;39;p15"/>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5"/>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42" name="Google Shape;42;p15"/>
          <p:cNvPicPr preferRelativeResize="0"/>
          <p:nvPr/>
        </p:nvPicPr>
        <p:blipFill rotWithShape="1">
          <a:blip r:embed="rId2">
            <a:alphaModFix/>
          </a:blip>
          <a:srcRect b="0" l="0" r="0" t="0"/>
          <a:stretch/>
        </p:blipFill>
        <p:spPr>
          <a:xfrm>
            <a:off x="10091217" y="0"/>
            <a:ext cx="2066929" cy="598217"/>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1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6"/>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6" name="Google Shape;46;p16"/>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7" name="Google Shape;47;p16"/>
          <p:cNvSpPr txBox="1"/>
          <p:nvPr>
            <p:ph idx="3" type="body"/>
          </p:nvPr>
        </p:nvSpPr>
        <p:spPr>
          <a:xfrm>
            <a:off x="6193368" y="1535113"/>
            <a:ext cx="5389033"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8" name="Google Shape;48;p16"/>
          <p:cNvSpPr txBox="1"/>
          <p:nvPr>
            <p:ph idx="4" type="body"/>
          </p:nvPr>
        </p:nvSpPr>
        <p:spPr>
          <a:xfrm>
            <a:off x="6193368" y="2174875"/>
            <a:ext cx="5389033"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9" name="Google Shape;49;p16"/>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6"/>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52" name="Google Shape;52;p16"/>
          <p:cNvPicPr preferRelativeResize="0"/>
          <p:nvPr/>
        </p:nvPicPr>
        <p:blipFill rotWithShape="1">
          <a:blip r:embed="rId2">
            <a:alphaModFix/>
          </a:blip>
          <a:srcRect b="0" l="0" r="0" t="0"/>
          <a:stretch/>
        </p:blipFill>
        <p:spPr>
          <a:xfrm>
            <a:off x="10022907" y="1"/>
            <a:ext cx="2137230" cy="618564"/>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1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7"/>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7"/>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8"/>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8"/>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19"/>
          <p:cNvSpPr txBox="1"/>
          <p:nvPr>
            <p:ph type="title"/>
          </p:nvPr>
        </p:nvSpPr>
        <p:spPr>
          <a:xfrm>
            <a:off x="609601" y="273050"/>
            <a:ext cx="4011084"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9"/>
          <p:cNvSpPr txBox="1"/>
          <p:nvPr>
            <p:ph idx="1" type="body"/>
          </p:nvPr>
        </p:nvSpPr>
        <p:spPr>
          <a:xfrm>
            <a:off x="4766733" y="273051"/>
            <a:ext cx="6815667"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5" name="Google Shape;65;p19"/>
          <p:cNvSpPr txBox="1"/>
          <p:nvPr>
            <p:ph idx="2" type="body"/>
          </p:nvPr>
        </p:nvSpPr>
        <p:spPr>
          <a:xfrm>
            <a:off x="609601" y="1435101"/>
            <a:ext cx="4011084"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6" name="Google Shape;66;p19"/>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9"/>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69" name="Google Shape;69;p19"/>
          <p:cNvPicPr preferRelativeResize="0"/>
          <p:nvPr/>
        </p:nvPicPr>
        <p:blipFill rotWithShape="1">
          <a:blip r:embed="rId2">
            <a:alphaModFix/>
          </a:blip>
          <a:srcRect b="0" l="0" r="0" t="0"/>
          <a:stretch/>
        </p:blipFill>
        <p:spPr>
          <a:xfrm>
            <a:off x="10020764" y="0"/>
            <a:ext cx="2139373" cy="619184"/>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0" name="Shape 70"/>
        <p:cNvGrpSpPr/>
        <p:nvPr/>
      </p:nvGrpSpPr>
      <p:grpSpPr>
        <a:xfrm>
          <a:off x="0" y="0"/>
          <a:ext cx="0" cy="0"/>
          <a:chOff x="0" y="0"/>
          <a:chExt cx="0" cy="0"/>
        </a:xfrm>
      </p:grpSpPr>
      <p:sp>
        <p:nvSpPr>
          <p:cNvPr id="71" name="Google Shape;71;p20"/>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0"/>
          <p:cNvSpPr/>
          <p:nvPr>
            <p:ph idx="2" type="pic"/>
          </p:nvPr>
        </p:nvSpPr>
        <p:spPr>
          <a:xfrm>
            <a:off x="2389717" y="612775"/>
            <a:ext cx="7315200" cy="4114800"/>
          </a:xfrm>
          <a:prstGeom prst="rect">
            <a:avLst/>
          </a:prstGeom>
          <a:noFill/>
          <a:ln>
            <a:noFill/>
          </a:ln>
        </p:spPr>
      </p:sp>
      <p:sp>
        <p:nvSpPr>
          <p:cNvPr id="73" name="Google Shape;73;p20"/>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74" name="Google Shape;74;p20"/>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0"/>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7" name="Shape 77"/>
        <p:cNvGrpSpPr/>
        <p:nvPr/>
      </p:nvGrpSpPr>
      <p:grpSpPr>
        <a:xfrm>
          <a:off x="0" y="0"/>
          <a:ext cx="0" cy="0"/>
          <a:chOff x="0" y="0"/>
          <a:chExt cx="0" cy="0"/>
        </a:xfrm>
      </p:grpSpPr>
      <p:sp>
        <p:nvSpPr>
          <p:cNvPr id="78" name="Google Shape;78;p2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1"/>
          <p:cNvSpPr txBox="1"/>
          <p:nvPr>
            <p:ph idx="1" type="body"/>
          </p:nvPr>
        </p:nvSpPr>
        <p:spPr>
          <a:xfrm rot="5400000">
            <a:off x="3833019" y="-1623218"/>
            <a:ext cx="4525963" cy="10972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0" name="Google Shape;80;p21"/>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1"/>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3" name="Shape 83"/>
        <p:cNvGrpSpPr/>
        <p:nvPr/>
      </p:nvGrpSpPr>
      <p:grpSpPr>
        <a:xfrm>
          <a:off x="0" y="0"/>
          <a:ext cx="0" cy="0"/>
          <a:chOff x="0" y="0"/>
          <a:chExt cx="0" cy="0"/>
        </a:xfrm>
      </p:grpSpPr>
      <p:sp>
        <p:nvSpPr>
          <p:cNvPr id="84" name="Google Shape;84;p22"/>
          <p:cNvSpPr txBox="1"/>
          <p:nvPr>
            <p:ph type="title"/>
          </p:nvPr>
        </p:nvSpPr>
        <p:spPr>
          <a:xfrm rot="5400000">
            <a:off x="7285038" y="1828802"/>
            <a:ext cx="5851525" cy="27432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2"/>
          <p:cNvSpPr txBox="1"/>
          <p:nvPr>
            <p:ph idx="1" type="body"/>
          </p:nvPr>
        </p:nvSpPr>
        <p:spPr>
          <a:xfrm rot="5400000">
            <a:off x="1697038" y="-812799"/>
            <a:ext cx="5851525" cy="80264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6" name="Google Shape;86;p22"/>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22"/>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5" name="Shape 95"/>
        <p:cNvGrpSpPr/>
        <p:nvPr/>
      </p:nvGrpSpPr>
      <p:grpSpPr>
        <a:xfrm>
          <a:off x="0" y="0"/>
          <a:ext cx="0" cy="0"/>
          <a:chOff x="0" y="0"/>
          <a:chExt cx="0" cy="0"/>
        </a:xfrm>
      </p:grpSpPr>
      <p:sp>
        <p:nvSpPr>
          <p:cNvPr id="96" name="Google Shape;96;g409ebd7067f_1_1156"/>
          <p:cNvSpPr txBox="1"/>
          <p:nvPr>
            <p:ph type="ctrTitle"/>
          </p:nvPr>
        </p:nvSpPr>
        <p:spPr>
          <a:xfrm>
            <a:off x="914400" y="2130426"/>
            <a:ext cx="10363200" cy="1470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g409ebd7067f_1_1156"/>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98" name="Google Shape;98;g409ebd7067f_1_1156"/>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g409ebd7067f_1_1156"/>
          <p:cNvSpPr txBox="1"/>
          <p:nvPr>
            <p:ph idx="11" type="ftr"/>
          </p:nvPr>
        </p:nvSpPr>
        <p:spPr>
          <a:xfrm>
            <a:off x="4165600" y="6356351"/>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g409ebd7067f_1_1156"/>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101" name="Google Shape;101;g409ebd7067f_1_1156"/>
          <p:cNvPicPr preferRelativeResize="0"/>
          <p:nvPr/>
        </p:nvPicPr>
        <p:blipFill rotWithShape="1">
          <a:blip r:embed="rId2">
            <a:alphaModFix/>
          </a:blip>
          <a:srcRect b="0" l="0" r="0" t="0"/>
          <a:stretch/>
        </p:blipFill>
        <p:spPr>
          <a:xfrm>
            <a:off x="10226037" y="0"/>
            <a:ext cx="1965963" cy="56899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2" name="Shape 102"/>
        <p:cNvGrpSpPr/>
        <p:nvPr/>
      </p:nvGrpSpPr>
      <p:grpSpPr>
        <a:xfrm>
          <a:off x="0" y="0"/>
          <a:ext cx="0" cy="0"/>
          <a:chOff x="0" y="0"/>
          <a:chExt cx="0" cy="0"/>
        </a:xfrm>
      </p:grpSpPr>
      <p:sp>
        <p:nvSpPr>
          <p:cNvPr id="103" name="Google Shape;103;g409ebd7067f_1_116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g409ebd7067f_1_1163"/>
          <p:cNvSpPr txBox="1"/>
          <p:nvPr>
            <p:ph idx="1" type="body"/>
          </p:nvPr>
        </p:nvSpPr>
        <p:spPr>
          <a:xfrm>
            <a:off x="609600" y="1600201"/>
            <a:ext cx="10972800" cy="45261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5" name="Google Shape;105;g409ebd7067f_1_1163"/>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g409ebd7067f_1_1163"/>
          <p:cNvSpPr txBox="1"/>
          <p:nvPr>
            <p:ph idx="11" type="ftr"/>
          </p:nvPr>
        </p:nvSpPr>
        <p:spPr>
          <a:xfrm>
            <a:off x="4165600" y="6356351"/>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g409ebd7067f_1_1163"/>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108" name="Google Shape;108;g409ebd7067f_1_1163" title="SOU_LOGO_new-removebg (1) (9).png"/>
          <p:cNvPicPr preferRelativeResize="0"/>
          <p:nvPr/>
        </p:nvPicPr>
        <p:blipFill rotWithShape="1">
          <a:blip r:embed="rId2">
            <a:alphaModFix/>
          </a:blip>
          <a:srcRect b="0" l="0" r="0" t="0"/>
          <a:stretch/>
        </p:blipFill>
        <p:spPr>
          <a:xfrm>
            <a:off x="9815721" y="0"/>
            <a:ext cx="2376274" cy="5138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9" name="Shape 109"/>
        <p:cNvGrpSpPr/>
        <p:nvPr/>
      </p:nvGrpSpPr>
      <p:grpSpPr>
        <a:xfrm>
          <a:off x="0" y="0"/>
          <a:ext cx="0" cy="0"/>
          <a:chOff x="0" y="0"/>
          <a:chExt cx="0" cy="0"/>
        </a:xfrm>
      </p:grpSpPr>
      <p:sp>
        <p:nvSpPr>
          <p:cNvPr id="110" name="Google Shape;110;g409ebd7067f_1_1170"/>
          <p:cNvSpPr txBox="1"/>
          <p:nvPr>
            <p:ph type="title"/>
          </p:nvPr>
        </p:nvSpPr>
        <p:spPr>
          <a:xfrm>
            <a:off x="963084" y="4406901"/>
            <a:ext cx="10363200" cy="1362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g409ebd7067f_1_1170"/>
          <p:cNvSpPr txBox="1"/>
          <p:nvPr>
            <p:ph idx="1" type="body"/>
          </p:nvPr>
        </p:nvSpPr>
        <p:spPr>
          <a:xfrm>
            <a:off x="963084" y="2906713"/>
            <a:ext cx="103632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12" name="Google Shape;112;g409ebd7067f_1_1170"/>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g409ebd7067f_1_1170"/>
          <p:cNvSpPr txBox="1"/>
          <p:nvPr>
            <p:ph idx="11" type="ftr"/>
          </p:nvPr>
        </p:nvSpPr>
        <p:spPr>
          <a:xfrm>
            <a:off x="4165600" y="6356351"/>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g409ebd7067f_1_1170"/>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5" name="Shape 115"/>
        <p:cNvGrpSpPr/>
        <p:nvPr/>
      </p:nvGrpSpPr>
      <p:grpSpPr>
        <a:xfrm>
          <a:off x="0" y="0"/>
          <a:ext cx="0" cy="0"/>
          <a:chOff x="0" y="0"/>
          <a:chExt cx="0" cy="0"/>
        </a:xfrm>
      </p:grpSpPr>
      <p:sp>
        <p:nvSpPr>
          <p:cNvPr id="116" name="Google Shape;116;g409ebd7067f_1_117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g409ebd7067f_1_1176"/>
          <p:cNvSpPr txBox="1"/>
          <p:nvPr>
            <p:ph idx="1" type="body"/>
          </p:nvPr>
        </p:nvSpPr>
        <p:spPr>
          <a:xfrm>
            <a:off x="609600" y="1600201"/>
            <a:ext cx="53847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8" name="Google Shape;118;g409ebd7067f_1_1176"/>
          <p:cNvSpPr txBox="1"/>
          <p:nvPr>
            <p:ph idx="2" type="body"/>
          </p:nvPr>
        </p:nvSpPr>
        <p:spPr>
          <a:xfrm>
            <a:off x="6197600" y="1600201"/>
            <a:ext cx="53847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9" name="Google Shape;119;g409ebd7067f_1_1176"/>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g409ebd7067f_1_1176"/>
          <p:cNvSpPr txBox="1"/>
          <p:nvPr>
            <p:ph idx="11" type="ftr"/>
          </p:nvPr>
        </p:nvSpPr>
        <p:spPr>
          <a:xfrm>
            <a:off x="4165600" y="6356351"/>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g409ebd7067f_1_1176"/>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122" name="Google Shape;122;g409ebd7067f_1_1176"/>
          <p:cNvPicPr preferRelativeResize="0"/>
          <p:nvPr/>
        </p:nvPicPr>
        <p:blipFill rotWithShape="1">
          <a:blip r:embed="rId2">
            <a:alphaModFix/>
          </a:blip>
          <a:srcRect b="0" l="0" r="0" t="0"/>
          <a:stretch/>
        </p:blipFill>
        <p:spPr>
          <a:xfrm>
            <a:off x="10091217" y="0"/>
            <a:ext cx="2066929" cy="598217"/>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3" name="Shape 123"/>
        <p:cNvGrpSpPr/>
        <p:nvPr/>
      </p:nvGrpSpPr>
      <p:grpSpPr>
        <a:xfrm>
          <a:off x="0" y="0"/>
          <a:ext cx="0" cy="0"/>
          <a:chOff x="0" y="0"/>
          <a:chExt cx="0" cy="0"/>
        </a:xfrm>
      </p:grpSpPr>
      <p:sp>
        <p:nvSpPr>
          <p:cNvPr id="124" name="Google Shape;124;g409ebd7067f_1_118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g409ebd7067f_1_1184"/>
          <p:cNvSpPr txBox="1"/>
          <p:nvPr>
            <p:ph idx="1" type="body"/>
          </p:nvPr>
        </p:nvSpPr>
        <p:spPr>
          <a:xfrm>
            <a:off x="609600" y="1535113"/>
            <a:ext cx="53868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26" name="Google Shape;126;g409ebd7067f_1_1184"/>
          <p:cNvSpPr txBox="1"/>
          <p:nvPr>
            <p:ph idx="2" type="body"/>
          </p:nvPr>
        </p:nvSpPr>
        <p:spPr>
          <a:xfrm>
            <a:off x="609600" y="2174875"/>
            <a:ext cx="53868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27" name="Google Shape;127;g409ebd7067f_1_1184"/>
          <p:cNvSpPr txBox="1"/>
          <p:nvPr>
            <p:ph idx="3" type="body"/>
          </p:nvPr>
        </p:nvSpPr>
        <p:spPr>
          <a:xfrm>
            <a:off x="6193368" y="1535113"/>
            <a:ext cx="5388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28" name="Google Shape;128;g409ebd7067f_1_1184"/>
          <p:cNvSpPr txBox="1"/>
          <p:nvPr>
            <p:ph idx="4" type="body"/>
          </p:nvPr>
        </p:nvSpPr>
        <p:spPr>
          <a:xfrm>
            <a:off x="6193368" y="2174875"/>
            <a:ext cx="5388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29" name="Google Shape;129;g409ebd7067f_1_1184"/>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g409ebd7067f_1_1184"/>
          <p:cNvSpPr txBox="1"/>
          <p:nvPr>
            <p:ph idx="11" type="ftr"/>
          </p:nvPr>
        </p:nvSpPr>
        <p:spPr>
          <a:xfrm>
            <a:off x="4165600" y="6356351"/>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g409ebd7067f_1_1184"/>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132" name="Google Shape;132;g409ebd7067f_1_1184"/>
          <p:cNvPicPr preferRelativeResize="0"/>
          <p:nvPr/>
        </p:nvPicPr>
        <p:blipFill rotWithShape="1">
          <a:blip r:embed="rId2">
            <a:alphaModFix/>
          </a:blip>
          <a:srcRect b="0" l="0" r="0" t="0"/>
          <a:stretch/>
        </p:blipFill>
        <p:spPr>
          <a:xfrm>
            <a:off x="10022907" y="1"/>
            <a:ext cx="2137230" cy="618564"/>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3" name="Shape 133"/>
        <p:cNvGrpSpPr/>
        <p:nvPr/>
      </p:nvGrpSpPr>
      <p:grpSpPr>
        <a:xfrm>
          <a:off x="0" y="0"/>
          <a:ext cx="0" cy="0"/>
          <a:chOff x="0" y="0"/>
          <a:chExt cx="0" cy="0"/>
        </a:xfrm>
      </p:grpSpPr>
      <p:sp>
        <p:nvSpPr>
          <p:cNvPr id="134" name="Google Shape;134;g409ebd7067f_1_119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g409ebd7067f_1_1194"/>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g409ebd7067f_1_1194"/>
          <p:cNvSpPr txBox="1"/>
          <p:nvPr>
            <p:ph idx="11" type="ftr"/>
          </p:nvPr>
        </p:nvSpPr>
        <p:spPr>
          <a:xfrm>
            <a:off x="4165600" y="6356351"/>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g409ebd7067f_1_1194"/>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8" name="Shape 138"/>
        <p:cNvGrpSpPr/>
        <p:nvPr/>
      </p:nvGrpSpPr>
      <p:grpSpPr>
        <a:xfrm>
          <a:off x="0" y="0"/>
          <a:ext cx="0" cy="0"/>
          <a:chOff x="0" y="0"/>
          <a:chExt cx="0" cy="0"/>
        </a:xfrm>
      </p:grpSpPr>
      <p:sp>
        <p:nvSpPr>
          <p:cNvPr id="139" name="Google Shape;139;g409ebd7067f_1_1199"/>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g409ebd7067f_1_1199"/>
          <p:cNvSpPr txBox="1"/>
          <p:nvPr>
            <p:ph idx="11" type="ftr"/>
          </p:nvPr>
        </p:nvSpPr>
        <p:spPr>
          <a:xfrm>
            <a:off x="4165600" y="6356351"/>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g409ebd7067f_1_1199"/>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42" name="Shape 142"/>
        <p:cNvGrpSpPr/>
        <p:nvPr/>
      </p:nvGrpSpPr>
      <p:grpSpPr>
        <a:xfrm>
          <a:off x="0" y="0"/>
          <a:ext cx="0" cy="0"/>
          <a:chOff x="0" y="0"/>
          <a:chExt cx="0" cy="0"/>
        </a:xfrm>
      </p:grpSpPr>
      <p:sp>
        <p:nvSpPr>
          <p:cNvPr id="143" name="Google Shape;143;g409ebd7067f_1_1203"/>
          <p:cNvSpPr txBox="1"/>
          <p:nvPr>
            <p:ph type="title"/>
          </p:nvPr>
        </p:nvSpPr>
        <p:spPr>
          <a:xfrm>
            <a:off x="609601" y="273050"/>
            <a:ext cx="4011000" cy="1162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g409ebd7067f_1_1203"/>
          <p:cNvSpPr txBox="1"/>
          <p:nvPr>
            <p:ph idx="1" type="body"/>
          </p:nvPr>
        </p:nvSpPr>
        <p:spPr>
          <a:xfrm>
            <a:off x="4766733" y="273051"/>
            <a:ext cx="6815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45" name="Google Shape;145;g409ebd7067f_1_1203"/>
          <p:cNvSpPr txBox="1"/>
          <p:nvPr>
            <p:ph idx="2" type="body"/>
          </p:nvPr>
        </p:nvSpPr>
        <p:spPr>
          <a:xfrm>
            <a:off x="609601" y="1435101"/>
            <a:ext cx="40110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46" name="Google Shape;146;g409ebd7067f_1_1203"/>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g409ebd7067f_1_1203"/>
          <p:cNvSpPr txBox="1"/>
          <p:nvPr>
            <p:ph idx="11" type="ftr"/>
          </p:nvPr>
        </p:nvSpPr>
        <p:spPr>
          <a:xfrm>
            <a:off x="4165600" y="6356351"/>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g409ebd7067f_1_1203"/>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149" name="Google Shape;149;g409ebd7067f_1_1203"/>
          <p:cNvPicPr preferRelativeResize="0"/>
          <p:nvPr/>
        </p:nvPicPr>
        <p:blipFill rotWithShape="1">
          <a:blip r:embed="rId2">
            <a:alphaModFix/>
          </a:blip>
          <a:srcRect b="0" l="0" r="0" t="0"/>
          <a:stretch/>
        </p:blipFill>
        <p:spPr>
          <a:xfrm>
            <a:off x="10020764" y="0"/>
            <a:ext cx="2139373" cy="61918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0" name="Shape 150"/>
        <p:cNvGrpSpPr/>
        <p:nvPr/>
      </p:nvGrpSpPr>
      <p:grpSpPr>
        <a:xfrm>
          <a:off x="0" y="0"/>
          <a:ext cx="0" cy="0"/>
          <a:chOff x="0" y="0"/>
          <a:chExt cx="0" cy="0"/>
        </a:xfrm>
      </p:grpSpPr>
      <p:sp>
        <p:nvSpPr>
          <p:cNvPr id="151" name="Google Shape;151;g409ebd7067f_1_1211"/>
          <p:cNvSpPr txBox="1"/>
          <p:nvPr>
            <p:ph type="title"/>
          </p:nvPr>
        </p:nvSpPr>
        <p:spPr>
          <a:xfrm>
            <a:off x="2389717" y="4800600"/>
            <a:ext cx="7315200" cy="5667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g409ebd7067f_1_1211"/>
          <p:cNvSpPr/>
          <p:nvPr>
            <p:ph idx="2" type="pic"/>
          </p:nvPr>
        </p:nvSpPr>
        <p:spPr>
          <a:xfrm>
            <a:off x="2389717" y="612775"/>
            <a:ext cx="7315200" cy="4114800"/>
          </a:xfrm>
          <a:prstGeom prst="rect">
            <a:avLst/>
          </a:prstGeom>
          <a:noFill/>
          <a:ln>
            <a:noFill/>
          </a:ln>
        </p:spPr>
      </p:sp>
      <p:sp>
        <p:nvSpPr>
          <p:cNvPr id="153" name="Google Shape;153;g409ebd7067f_1_1211"/>
          <p:cNvSpPr txBox="1"/>
          <p:nvPr>
            <p:ph idx="1" type="body"/>
          </p:nvPr>
        </p:nvSpPr>
        <p:spPr>
          <a:xfrm>
            <a:off x="2389717" y="5367338"/>
            <a:ext cx="73152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54" name="Google Shape;154;g409ebd7067f_1_1211"/>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g409ebd7067f_1_1211"/>
          <p:cNvSpPr txBox="1"/>
          <p:nvPr>
            <p:ph idx="11" type="ftr"/>
          </p:nvPr>
        </p:nvSpPr>
        <p:spPr>
          <a:xfrm>
            <a:off x="4165600" y="6356351"/>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 name="Google Shape;156;g409ebd7067f_1_1211"/>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7" name="Shape 157"/>
        <p:cNvGrpSpPr/>
        <p:nvPr/>
      </p:nvGrpSpPr>
      <p:grpSpPr>
        <a:xfrm>
          <a:off x="0" y="0"/>
          <a:ext cx="0" cy="0"/>
          <a:chOff x="0" y="0"/>
          <a:chExt cx="0" cy="0"/>
        </a:xfrm>
      </p:grpSpPr>
      <p:sp>
        <p:nvSpPr>
          <p:cNvPr id="158" name="Google Shape;158;g409ebd7067f_1_121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g409ebd7067f_1_1218"/>
          <p:cNvSpPr txBox="1"/>
          <p:nvPr>
            <p:ph idx="1" type="body"/>
          </p:nvPr>
        </p:nvSpPr>
        <p:spPr>
          <a:xfrm rot="5400000">
            <a:off x="3832951" y="-1623150"/>
            <a:ext cx="4526100" cy="10972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60" name="Google Shape;160;g409ebd7067f_1_1218"/>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1" name="Google Shape;161;g409ebd7067f_1_1218"/>
          <p:cNvSpPr txBox="1"/>
          <p:nvPr>
            <p:ph idx="11" type="ftr"/>
          </p:nvPr>
        </p:nvSpPr>
        <p:spPr>
          <a:xfrm>
            <a:off x="4165600" y="6356351"/>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2" name="Google Shape;162;g409ebd7067f_1_1218"/>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63" name="Shape 163"/>
        <p:cNvGrpSpPr/>
        <p:nvPr/>
      </p:nvGrpSpPr>
      <p:grpSpPr>
        <a:xfrm>
          <a:off x="0" y="0"/>
          <a:ext cx="0" cy="0"/>
          <a:chOff x="0" y="0"/>
          <a:chExt cx="0" cy="0"/>
        </a:xfrm>
      </p:grpSpPr>
      <p:sp>
        <p:nvSpPr>
          <p:cNvPr id="164" name="Google Shape;164;g409ebd7067f_1_1224"/>
          <p:cNvSpPr txBox="1"/>
          <p:nvPr>
            <p:ph type="title"/>
          </p:nvPr>
        </p:nvSpPr>
        <p:spPr>
          <a:xfrm rot="5400000">
            <a:off x="7285051" y="1828790"/>
            <a:ext cx="5851500" cy="27432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 name="Google Shape;165;g409ebd7067f_1_1224"/>
          <p:cNvSpPr txBox="1"/>
          <p:nvPr>
            <p:ph idx="1" type="body"/>
          </p:nvPr>
        </p:nvSpPr>
        <p:spPr>
          <a:xfrm rot="5400000">
            <a:off x="1697001" y="-812861"/>
            <a:ext cx="5851500" cy="80265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66" name="Google Shape;166;g409ebd7067f_1_1224"/>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7" name="Google Shape;167;g409ebd7067f_1_1224"/>
          <p:cNvSpPr txBox="1"/>
          <p:nvPr>
            <p:ph idx="11" type="ftr"/>
          </p:nvPr>
        </p:nvSpPr>
        <p:spPr>
          <a:xfrm>
            <a:off x="4165600" y="6356351"/>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8" name="Google Shape;168;g409ebd7067f_1_1224"/>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409ebd7067f_31_0)">
  <p:cSld name="Generated (g409ebd7067f_31_0)">
    <p:spTree>
      <p:nvGrpSpPr>
        <p:cNvPr id="169" name="Shape 169"/>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409ebd7067f_23_0)">
  <p:cSld name="Generated (g409ebd7067f_23_0)">
    <p:spTree>
      <p:nvGrpSpPr>
        <p:cNvPr id="170" name="Shape 17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3.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1"/>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1"/>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1"/>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 name="Shape 89"/>
        <p:cNvGrpSpPr/>
        <p:nvPr/>
      </p:nvGrpSpPr>
      <p:grpSpPr>
        <a:xfrm>
          <a:off x="0" y="0"/>
          <a:ext cx="0" cy="0"/>
          <a:chOff x="0" y="0"/>
          <a:chExt cx="0" cy="0"/>
        </a:xfrm>
      </p:grpSpPr>
      <p:sp>
        <p:nvSpPr>
          <p:cNvPr id="90" name="Google Shape;90;g409ebd7067f_1_115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1" name="Google Shape;91;g409ebd7067f_1_1150"/>
          <p:cNvSpPr txBox="1"/>
          <p:nvPr>
            <p:ph idx="1" type="body"/>
          </p:nvPr>
        </p:nvSpPr>
        <p:spPr>
          <a:xfrm>
            <a:off x="609600" y="1600201"/>
            <a:ext cx="10972800" cy="4526100"/>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92" name="Google Shape;92;g409ebd7067f_1_1150"/>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3" name="Google Shape;93;g409ebd7067f_1_1150"/>
          <p:cNvSpPr txBox="1"/>
          <p:nvPr>
            <p:ph idx="11" type="ftr"/>
          </p:nvPr>
        </p:nvSpPr>
        <p:spPr>
          <a:xfrm>
            <a:off x="4165600" y="6356351"/>
            <a:ext cx="38607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4" name="Google Shape;94;g409ebd7067f_1_1150"/>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id="175" name="Google Shape;175;g3f667400058_0_3"/>
          <p:cNvPicPr preferRelativeResize="0"/>
          <p:nvPr/>
        </p:nvPicPr>
        <p:blipFill rotWithShape="1">
          <a:blip r:embed="rId3">
            <a:alphaModFix/>
          </a:blip>
          <a:srcRect b="0" l="0" r="2610" t="0"/>
          <a:stretch/>
        </p:blipFill>
        <p:spPr>
          <a:xfrm>
            <a:off x="-6199" y="-1"/>
            <a:ext cx="12192001" cy="5739325"/>
          </a:xfrm>
          <a:prstGeom prst="rect">
            <a:avLst/>
          </a:prstGeom>
          <a:noFill/>
          <a:ln>
            <a:noFill/>
          </a:ln>
        </p:spPr>
      </p:pic>
      <p:sp>
        <p:nvSpPr>
          <p:cNvPr id="176" name="Google Shape;176;g3f667400058_0_3"/>
          <p:cNvSpPr/>
          <p:nvPr/>
        </p:nvSpPr>
        <p:spPr>
          <a:xfrm>
            <a:off x="-6150" y="3875401"/>
            <a:ext cx="12204300" cy="2982600"/>
          </a:xfrm>
          <a:prstGeom prst="rect">
            <a:avLst/>
          </a:prstGeom>
          <a:solidFill>
            <a:srgbClr val="95373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600"/>
              <a:buFont typeface="Times New Roman"/>
              <a:buNone/>
            </a:pPr>
            <a:r>
              <a:t/>
            </a:r>
            <a:endParaRPr b="1" i="0" sz="3600" u="none" cap="none" strike="noStrike">
              <a:solidFill>
                <a:schemeClr val="lt1"/>
              </a:solidFill>
              <a:latin typeface="Times New Roman"/>
              <a:ea typeface="Times New Roman"/>
              <a:cs typeface="Times New Roman"/>
              <a:sym typeface="Times New Roman"/>
            </a:endParaRPr>
          </a:p>
        </p:txBody>
      </p:sp>
      <p:sp>
        <p:nvSpPr>
          <p:cNvPr id="177" name="Google Shape;177;g3f667400058_0_3"/>
          <p:cNvSpPr txBox="1"/>
          <p:nvPr/>
        </p:nvSpPr>
        <p:spPr>
          <a:xfrm>
            <a:off x="1041573" y="1308153"/>
            <a:ext cx="10580400" cy="1385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None/>
            </a:pPr>
            <a:r>
              <a:rPr b="1" i="0" lang="en-IN" sz="2600" u="none" cap="none" strike="noStrike">
                <a:solidFill>
                  <a:srgbClr val="632423"/>
                </a:solidFill>
                <a:latin typeface="Times New Roman"/>
                <a:ea typeface="Times New Roman"/>
                <a:cs typeface="Times New Roman"/>
                <a:sym typeface="Times New Roman"/>
              </a:rPr>
              <a:t>Minor Project</a:t>
            </a:r>
            <a:endParaRPr/>
          </a:p>
          <a:p>
            <a:pPr indent="0" lvl="0" marL="0" marR="0" rtl="0" algn="ctr">
              <a:lnSpc>
                <a:spcPct val="100000"/>
              </a:lnSpc>
              <a:spcBef>
                <a:spcPts val="0"/>
              </a:spcBef>
              <a:spcAft>
                <a:spcPts val="0"/>
              </a:spcAft>
              <a:buNone/>
            </a:pPr>
            <a:r>
              <a:rPr b="1" i="0" lang="en-IN" sz="2600" u="none" cap="none" strike="noStrike">
                <a:solidFill>
                  <a:srgbClr val="632423"/>
                </a:solidFill>
                <a:latin typeface="Times New Roman"/>
                <a:ea typeface="Times New Roman"/>
                <a:cs typeface="Times New Roman"/>
                <a:sym typeface="Times New Roman"/>
              </a:rPr>
              <a:t>1010063491</a:t>
            </a:r>
            <a:endParaRPr/>
          </a:p>
          <a:p>
            <a:pPr indent="0" lvl="0" marL="0" marR="0" rtl="0" algn="ctr">
              <a:lnSpc>
                <a:spcPct val="100000"/>
              </a:lnSpc>
              <a:spcBef>
                <a:spcPts val="0"/>
              </a:spcBef>
              <a:spcAft>
                <a:spcPts val="0"/>
              </a:spcAft>
              <a:buNone/>
            </a:pPr>
            <a:r>
              <a:rPr b="1" lang="en-IN" sz="2600">
                <a:solidFill>
                  <a:srgbClr val="632423"/>
                </a:solidFill>
                <a:latin typeface="Times New Roman"/>
                <a:ea typeface="Times New Roman"/>
                <a:cs typeface="Times New Roman"/>
                <a:sym typeface="Times New Roman"/>
              </a:rPr>
              <a:t>Smart Solar Monitoring &amp; Predictive Maintenance System using IoT</a:t>
            </a:r>
            <a:endParaRPr b="1" i="0" sz="2900" u="none" cap="none" strike="noStrike">
              <a:solidFill>
                <a:srgbClr val="632423"/>
              </a:solidFill>
              <a:latin typeface="Times New Roman"/>
              <a:ea typeface="Times New Roman"/>
              <a:cs typeface="Times New Roman"/>
              <a:sym typeface="Times New Roman"/>
            </a:endParaRPr>
          </a:p>
        </p:txBody>
      </p:sp>
      <p:pic>
        <p:nvPicPr>
          <p:cNvPr id="178" name="Google Shape;178;g3f667400058_0_3" title="SOU_LOGO_new-removebg (1) (9).png"/>
          <p:cNvPicPr preferRelativeResize="0"/>
          <p:nvPr/>
        </p:nvPicPr>
        <p:blipFill rotWithShape="1">
          <a:blip r:embed="rId4">
            <a:alphaModFix/>
          </a:blip>
          <a:srcRect b="0" l="0" r="0" t="0"/>
          <a:stretch/>
        </p:blipFill>
        <p:spPr>
          <a:xfrm>
            <a:off x="8898992" y="0"/>
            <a:ext cx="3292999" cy="712000"/>
          </a:xfrm>
          <a:prstGeom prst="rect">
            <a:avLst/>
          </a:prstGeom>
          <a:noFill/>
          <a:ln>
            <a:noFill/>
          </a:ln>
        </p:spPr>
      </p:pic>
      <p:graphicFrame>
        <p:nvGraphicFramePr>
          <p:cNvPr id="179" name="Google Shape;179;g3f667400058_0_3"/>
          <p:cNvGraphicFramePr/>
          <p:nvPr/>
        </p:nvGraphicFramePr>
        <p:xfrm>
          <a:off x="80435" y="3985843"/>
          <a:ext cx="3000000" cy="3000000"/>
        </p:xfrm>
        <a:graphic>
          <a:graphicData uri="http://schemas.openxmlformats.org/drawingml/2006/table">
            <a:tbl>
              <a:tblPr>
                <a:noFill/>
                <a:tableStyleId>{B96F72CB-10AD-4DAE-AE5A-50F3F0E7628F}</a:tableStyleId>
              </a:tblPr>
              <a:tblGrid>
                <a:gridCol w="3256225"/>
                <a:gridCol w="8790125"/>
              </a:tblGrid>
              <a:tr h="564925">
                <a:tc>
                  <a:txBody>
                    <a:bodyPr/>
                    <a:lstStyle/>
                    <a:p>
                      <a:pPr indent="0" lvl="0" marL="0" marR="0" rtl="0" algn="l">
                        <a:lnSpc>
                          <a:spcPct val="100000"/>
                        </a:lnSpc>
                        <a:spcBef>
                          <a:spcPts val="0"/>
                        </a:spcBef>
                        <a:spcAft>
                          <a:spcPts val="0"/>
                        </a:spcAft>
                        <a:buClr>
                          <a:srgbClr val="000000"/>
                        </a:buClr>
                        <a:buSzPts val="2300"/>
                        <a:buFont typeface="Arial"/>
                        <a:buNone/>
                      </a:pPr>
                      <a:r>
                        <a:rPr b="1" lang="en-IN" sz="2300" u="none" cap="none" strike="noStrike">
                          <a:solidFill>
                            <a:schemeClr val="lt1"/>
                          </a:solidFill>
                          <a:latin typeface="Cambria"/>
                          <a:ea typeface="Cambria"/>
                          <a:cs typeface="Cambria"/>
                          <a:sym typeface="Cambria"/>
                        </a:rPr>
                        <a:t>Project ID</a:t>
                      </a:r>
                      <a:endParaRPr b="1" sz="2300" u="none" cap="none" strike="noStrike">
                        <a:solidFill>
                          <a:schemeClr val="lt1"/>
                        </a:solidFill>
                        <a:latin typeface="Cambria"/>
                        <a:ea typeface="Cambria"/>
                        <a:cs typeface="Cambria"/>
                        <a:sym typeface="Cambria"/>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IN" sz="1900">
                          <a:solidFill>
                            <a:schemeClr val="lt1"/>
                          </a:solidFill>
                          <a:latin typeface="Cambria"/>
                          <a:ea typeface="Cambria"/>
                          <a:cs typeface="Cambria"/>
                          <a:sym typeface="Cambria"/>
                        </a:rPr>
                        <a:t>IP-ID-9</a:t>
                      </a:r>
                      <a:endParaRPr sz="1900" u="none" cap="none" strike="noStrike">
                        <a:solidFill>
                          <a:schemeClr val="lt1"/>
                        </a:solidFill>
                        <a:latin typeface="Cambria"/>
                        <a:ea typeface="Cambria"/>
                        <a:cs typeface="Cambria"/>
                        <a:sym typeface="Cambria"/>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484425">
                <a:tc>
                  <a:txBody>
                    <a:bodyPr/>
                    <a:lstStyle/>
                    <a:p>
                      <a:pPr indent="0" lvl="0" marL="0" marR="0" rtl="0" algn="l">
                        <a:lnSpc>
                          <a:spcPct val="100000"/>
                        </a:lnSpc>
                        <a:spcBef>
                          <a:spcPts val="0"/>
                        </a:spcBef>
                        <a:spcAft>
                          <a:spcPts val="0"/>
                        </a:spcAft>
                        <a:buClr>
                          <a:schemeClr val="lt1"/>
                        </a:buClr>
                        <a:buSzPts val="2300"/>
                        <a:buFont typeface="Arial"/>
                        <a:buNone/>
                      </a:pPr>
                      <a:r>
                        <a:rPr b="1" lang="en-IN" sz="2300" u="none" cap="none" strike="noStrike">
                          <a:solidFill>
                            <a:schemeClr val="lt1"/>
                          </a:solidFill>
                          <a:latin typeface="Cambria"/>
                          <a:ea typeface="Cambria"/>
                          <a:cs typeface="Cambria"/>
                          <a:sym typeface="Cambria"/>
                        </a:rPr>
                        <a:t>Name</a:t>
                      </a:r>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IN" sz="1900">
                          <a:solidFill>
                            <a:schemeClr val="lt1"/>
                          </a:solidFill>
                          <a:latin typeface="Cambria"/>
                          <a:ea typeface="Cambria"/>
                          <a:cs typeface="Cambria"/>
                          <a:sym typeface="Cambria"/>
                        </a:rPr>
                        <a:t>Patel Hitesh</a:t>
                      </a:r>
                      <a:endParaRPr sz="1900" u="none" cap="none" strike="noStrike">
                        <a:solidFill>
                          <a:schemeClr val="lt1"/>
                        </a:solidFill>
                        <a:latin typeface="Cambria"/>
                        <a:ea typeface="Cambria"/>
                        <a:cs typeface="Cambria"/>
                        <a:sym typeface="Cambria"/>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552175">
                <a:tc>
                  <a:txBody>
                    <a:bodyPr/>
                    <a:lstStyle/>
                    <a:p>
                      <a:pPr indent="0" lvl="0" marL="0" rtl="0" algn="l">
                        <a:spcBef>
                          <a:spcPts val="0"/>
                        </a:spcBef>
                        <a:spcAft>
                          <a:spcPts val="0"/>
                        </a:spcAft>
                        <a:buNone/>
                      </a:pPr>
                      <a:r>
                        <a:rPr b="1" lang="en-IN" sz="2300">
                          <a:solidFill>
                            <a:schemeClr val="lt1"/>
                          </a:solidFill>
                          <a:latin typeface="Cambria"/>
                          <a:ea typeface="Cambria"/>
                          <a:cs typeface="Cambria"/>
                          <a:sym typeface="Cambria"/>
                        </a:rPr>
                        <a:t>Enrollment No</a:t>
                      </a:r>
                      <a:endParaRPr b="1" sz="2300">
                        <a:solidFill>
                          <a:schemeClr val="lt1"/>
                        </a:solidFill>
                        <a:latin typeface="Cambria"/>
                        <a:ea typeface="Cambria"/>
                        <a:cs typeface="Cambria"/>
                        <a:sym typeface="Cambria"/>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IN" sz="1900">
                          <a:solidFill>
                            <a:schemeClr val="lt1"/>
                          </a:solidFill>
                          <a:latin typeface="Cambria"/>
                          <a:ea typeface="Cambria"/>
                          <a:cs typeface="Cambria"/>
                          <a:sym typeface="Cambria"/>
                        </a:rPr>
                        <a:t>2301031000127</a:t>
                      </a:r>
                      <a:endParaRPr sz="1900">
                        <a:solidFill>
                          <a:schemeClr val="lt1"/>
                        </a:solidFill>
                        <a:latin typeface="Cambria"/>
                        <a:ea typeface="Cambria"/>
                        <a:cs typeface="Cambria"/>
                        <a:sym typeface="Cambria"/>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564925">
                <a:tc>
                  <a:txBody>
                    <a:bodyPr/>
                    <a:lstStyle/>
                    <a:p>
                      <a:pPr indent="0" lvl="0" marL="0" marR="0" rtl="0" algn="l">
                        <a:lnSpc>
                          <a:spcPct val="100000"/>
                        </a:lnSpc>
                        <a:spcBef>
                          <a:spcPts val="0"/>
                        </a:spcBef>
                        <a:spcAft>
                          <a:spcPts val="0"/>
                        </a:spcAft>
                        <a:buClr>
                          <a:srgbClr val="000000"/>
                        </a:buClr>
                        <a:buSzPts val="2300"/>
                        <a:buFont typeface="Arial"/>
                        <a:buNone/>
                      </a:pPr>
                      <a:r>
                        <a:rPr b="1" lang="en-IN" sz="2300" u="none" cap="none" strike="noStrike">
                          <a:solidFill>
                            <a:schemeClr val="lt1"/>
                          </a:solidFill>
                          <a:latin typeface="Cambria"/>
                          <a:ea typeface="Cambria"/>
                          <a:cs typeface="Cambria"/>
                          <a:sym typeface="Cambria"/>
                        </a:rPr>
                        <a:t>Branch</a:t>
                      </a:r>
                      <a:endParaRPr b="1" sz="2300" u="none" cap="none" strike="noStrike">
                        <a:solidFill>
                          <a:schemeClr val="lt1"/>
                        </a:solidFill>
                        <a:latin typeface="Cambria"/>
                        <a:ea typeface="Cambria"/>
                        <a:cs typeface="Cambria"/>
                        <a:sym typeface="Cambria"/>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IN" sz="1900" u="none" cap="none" strike="noStrike">
                          <a:solidFill>
                            <a:schemeClr val="lt1"/>
                          </a:solidFill>
                          <a:latin typeface="Cambria"/>
                          <a:ea typeface="Cambria"/>
                          <a:cs typeface="Cambria"/>
                          <a:sym typeface="Cambria"/>
                        </a:rPr>
                        <a:t>BTech </a:t>
                      </a:r>
                      <a:r>
                        <a:rPr lang="en-IN" sz="1900">
                          <a:solidFill>
                            <a:schemeClr val="lt1"/>
                          </a:solidFill>
                          <a:latin typeface="Cambria"/>
                          <a:ea typeface="Cambria"/>
                          <a:cs typeface="Cambria"/>
                          <a:sym typeface="Cambria"/>
                        </a:rPr>
                        <a:t>IT</a:t>
                      </a:r>
                      <a:endParaRPr sz="1900" u="none" cap="none" strike="noStrike">
                        <a:solidFill>
                          <a:schemeClr val="lt1"/>
                        </a:solidFill>
                        <a:latin typeface="Cambria"/>
                        <a:ea typeface="Cambria"/>
                        <a:cs typeface="Cambria"/>
                        <a:sym typeface="Cambria"/>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564925">
                <a:tc>
                  <a:txBody>
                    <a:bodyPr/>
                    <a:lstStyle/>
                    <a:p>
                      <a:pPr indent="0" lvl="0" marL="0" marR="0" rtl="0" algn="l">
                        <a:lnSpc>
                          <a:spcPct val="100000"/>
                        </a:lnSpc>
                        <a:spcBef>
                          <a:spcPts val="0"/>
                        </a:spcBef>
                        <a:spcAft>
                          <a:spcPts val="0"/>
                        </a:spcAft>
                        <a:buClr>
                          <a:srgbClr val="000000"/>
                        </a:buClr>
                        <a:buSzPts val="2300"/>
                        <a:buFont typeface="Arial"/>
                        <a:buNone/>
                      </a:pPr>
                      <a:r>
                        <a:rPr b="1" lang="en-IN" sz="2300" u="none" cap="none" strike="noStrike">
                          <a:solidFill>
                            <a:schemeClr val="lt1"/>
                          </a:solidFill>
                          <a:latin typeface="Cambria"/>
                          <a:ea typeface="Cambria"/>
                          <a:cs typeface="Cambria"/>
                          <a:sym typeface="Cambria"/>
                        </a:rPr>
                        <a:t>Guide Name</a:t>
                      </a:r>
                      <a:endParaRPr b="1" sz="2300" u="none" cap="none" strike="noStrike">
                        <a:solidFill>
                          <a:schemeClr val="lt1"/>
                        </a:solidFill>
                        <a:latin typeface="Cambria"/>
                        <a:ea typeface="Cambria"/>
                        <a:cs typeface="Cambria"/>
                        <a:sym typeface="Cambria"/>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b="1" lang="en-IN" sz="1900" u="none" cap="none" strike="noStrike">
                          <a:solidFill>
                            <a:schemeClr val="lt1"/>
                          </a:solidFill>
                          <a:latin typeface="Cambria"/>
                          <a:ea typeface="Cambria"/>
                          <a:cs typeface="Cambria"/>
                          <a:sym typeface="Cambria"/>
                        </a:rPr>
                        <a:t>Mr.</a:t>
                      </a:r>
                      <a:r>
                        <a:rPr b="1" lang="en-IN" sz="1900">
                          <a:solidFill>
                            <a:schemeClr val="lt1"/>
                          </a:solidFill>
                          <a:latin typeface="Cambria"/>
                          <a:ea typeface="Cambria"/>
                          <a:cs typeface="Cambria"/>
                          <a:sym typeface="Cambria"/>
                        </a:rPr>
                        <a:t>Darshan Sagar</a:t>
                      </a:r>
                      <a:endParaRPr b="1" sz="1900" u="none" cap="none" strike="noStrike">
                        <a:solidFill>
                          <a:schemeClr val="lt1"/>
                        </a:solidFill>
                        <a:latin typeface="Cambria"/>
                        <a:ea typeface="Cambria"/>
                        <a:cs typeface="Cambria"/>
                        <a:sym typeface="Cambria"/>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IN">
                <a:latin typeface="Cambria"/>
                <a:ea typeface="Cambria"/>
                <a:cs typeface="Cambria"/>
                <a:sym typeface="Cambria"/>
              </a:rPr>
              <a:t>Index</a:t>
            </a:r>
            <a:endParaRPr>
              <a:latin typeface="Cambria"/>
              <a:ea typeface="Cambria"/>
              <a:cs typeface="Cambria"/>
              <a:sym typeface="Cambria"/>
            </a:endParaRPr>
          </a:p>
        </p:txBody>
      </p:sp>
      <p:sp>
        <p:nvSpPr>
          <p:cNvPr id="185" name="Google Shape;185;p2"/>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100000"/>
              </a:lnSpc>
              <a:spcBef>
                <a:spcPts val="0"/>
              </a:spcBef>
              <a:spcAft>
                <a:spcPts val="0"/>
              </a:spcAft>
              <a:buClr>
                <a:schemeClr val="dk1"/>
              </a:buClr>
              <a:buSzPts val="3200"/>
              <a:buFont typeface="Cambria"/>
              <a:buChar char="•"/>
            </a:pPr>
            <a:r>
              <a:rPr lang="en-IN">
                <a:latin typeface="Cambria"/>
                <a:ea typeface="Cambria"/>
                <a:cs typeface="Cambria"/>
                <a:sym typeface="Cambria"/>
              </a:rPr>
              <a:t>Introduction</a:t>
            </a:r>
            <a:endParaRPr>
              <a:latin typeface="Cambria"/>
              <a:ea typeface="Cambria"/>
              <a:cs typeface="Cambria"/>
              <a:sym typeface="Cambria"/>
            </a:endParaRPr>
          </a:p>
          <a:p>
            <a:pPr indent="-342900" lvl="0" marL="342900" rtl="0" algn="l">
              <a:lnSpc>
                <a:spcPct val="100000"/>
              </a:lnSpc>
              <a:spcBef>
                <a:spcPts val="640"/>
              </a:spcBef>
              <a:spcAft>
                <a:spcPts val="0"/>
              </a:spcAft>
              <a:buClr>
                <a:schemeClr val="dk1"/>
              </a:buClr>
              <a:buSzPts val="3200"/>
              <a:buFont typeface="Cambria"/>
              <a:buChar char="•"/>
            </a:pPr>
            <a:r>
              <a:rPr lang="en-IN">
                <a:latin typeface="Cambria"/>
                <a:ea typeface="Cambria"/>
                <a:cs typeface="Cambria"/>
                <a:sym typeface="Cambria"/>
              </a:rPr>
              <a:t>Background and Motivation</a:t>
            </a:r>
            <a:endParaRPr>
              <a:latin typeface="Cambria"/>
              <a:ea typeface="Cambria"/>
              <a:cs typeface="Cambria"/>
              <a:sym typeface="Cambria"/>
            </a:endParaRPr>
          </a:p>
          <a:p>
            <a:pPr indent="-342900" lvl="0" marL="342900" rtl="0" algn="l">
              <a:lnSpc>
                <a:spcPct val="100000"/>
              </a:lnSpc>
              <a:spcBef>
                <a:spcPts val="640"/>
              </a:spcBef>
              <a:spcAft>
                <a:spcPts val="0"/>
              </a:spcAft>
              <a:buClr>
                <a:schemeClr val="dk1"/>
              </a:buClr>
              <a:buSzPts val="3200"/>
              <a:buFont typeface="Cambria"/>
              <a:buChar char="•"/>
            </a:pPr>
            <a:r>
              <a:rPr lang="en-IN">
                <a:latin typeface="Cambria"/>
                <a:ea typeface="Cambria"/>
                <a:cs typeface="Cambria"/>
                <a:sym typeface="Cambria"/>
              </a:rPr>
              <a:t>Relevance and Importance</a:t>
            </a:r>
            <a:endParaRPr>
              <a:latin typeface="Cambria"/>
              <a:ea typeface="Cambria"/>
              <a:cs typeface="Cambria"/>
              <a:sym typeface="Cambria"/>
            </a:endParaRPr>
          </a:p>
          <a:p>
            <a:pPr indent="-342900" lvl="0" marL="342900" rtl="0" algn="l">
              <a:lnSpc>
                <a:spcPct val="100000"/>
              </a:lnSpc>
              <a:spcBef>
                <a:spcPts val="640"/>
              </a:spcBef>
              <a:spcAft>
                <a:spcPts val="0"/>
              </a:spcAft>
              <a:buClr>
                <a:schemeClr val="dk1"/>
              </a:buClr>
              <a:buSzPts val="3200"/>
              <a:buFont typeface="Cambria"/>
              <a:buChar char="•"/>
            </a:pPr>
            <a:r>
              <a:rPr lang="en-IN">
                <a:latin typeface="Cambria"/>
                <a:ea typeface="Cambria"/>
                <a:cs typeface="Cambria"/>
                <a:sym typeface="Cambria"/>
              </a:rPr>
              <a:t>Literature review</a:t>
            </a:r>
            <a:endParaRPr>
              <a:latin typeface="Cambria"/>
              <a:ea typeface="Cambria"/>
              <a:cs typeface="Cambria"/>
              <a:sym typeface="Cambria"/>
            </a:endParaRPr>
          </a:p>
          <a:p>
            <a:pPr indent="-342900" lvl="0" marL="342900" rtl="0" algn="l">
              <a:lnSpc>
                <a:spcPct val="100000"/>
              </a:lnSpc>
              <a:spcBef>
                <a:spcPts val="640"/>
              </a:spcBef>
              <a:spcAft>
                <a:spcPts val="0"/>
              </a:spcAft>
              <a:buClr>
                <a:schemeClr val="dk1"/>
              </a:buClr>
              <a:buSzPts val="3200"/>
              <a:buFont typeface="Cambria"/>
              <a:buChar char="•"/>
            </a:pPr>
            <a:r>
              <a:rPr lang="en-IN">
                <a:latin typeface="Cambria"/>
                <a:ea typeface="Cambria"/>
                <a:cs typeface="Cambria"/>
                <a:sym typeface="Cambria"/>
              </a:rPr>
              <a:t>Objectives</a:t>
            </a:r>
            <a:endParaRPr>
              <a:latin typeface="Cambria"/>
              <a:ea typeface="Cambria"/>
              <a:cs typeface="Cambria"/>
              <a:sym typeface="Cambria"/>
            </a:endParaRPr>
          </a:p>
          <a:p>
            <a:pPr indent="-342900" lvl="0" marL="342900" rtl="0" algn="l">
              <a:lnSpc>
                <a:spcPct val="100000"/>
              </a:lnSpc>
              <a:spcBef>
                <a:spcPts val="640"/>
              </a:spcBef>
              <a:spcAft>
                <a:spcPts val="0"/>
              </a:spcAft>
              <a:buClr>
                <a:schemeClr val="dk1"/>
              </a:buClr>
              <a:buSzPts val="3200"/>
              <a:buFont typeface="Cambria"/>
              <a:buChar char="•"/>
            </a:pPr>
            <a:r>
              <a:rPr lang="en-IN">
                <a:latin typeface="Cambria"/>
                <a:ea typeface="Cambria"/>
                <a:cs typeface="Cambria"/>
                <a:sym typeface="Cambria"/>
              </a:rPr>
              <a:t>Required Tools and Technology</a:t>
            </a:r>
            <a:endParaRPr>
              <a:latin typeface="Cambria"/>
              <a:ea typeface="Cambria"/>
              <a:cs typeface="Cambria"/>
              <a:sym typeface="Cambria"/>
            </a:endParaRPr>
          </a:p>
          <a:p>
            <a:pPr indent="-342900" lvl="0" marL="342900" rtl="0" algn="l">
              <a:lnSpc>
                <a:spcPct val="100000"/>
              </a:lnSpc>
              <a:spcBef>
                <a:spcPts val="640"/>
              </a:spcBef>
              <a:spcAft>
                <a:spcPts val="0"/>
              </a:spcAft>
              <a:buClr>
                <a:schemeClr val="dk1"/>
              </a:buClr>
              <a:buSzPts val="3200"/>
              <a:buFont typeface="Cambria"/>
              <a:buChar char="•"/>
            </a:pPr>
            <a:r>
              <a:rPr lang="en-IN">
                <a:latin typeface="Cambria"/>
                <a:ea typeface="Cambria"/>
                <a:cs typeface="Cambria"/>
                <a:sym typeface="Cambria"/>
              </a:rPr>
              <a:t>Method/ Approach</a:t>
            </a:r>
            <a:endParaRPr>
              <a:latin typeface="Cambria"/>
              <a:ea typeface="Cambria"/>
              <a:cs typeface="Cambria"/>
              <a:sym typeface="Cambria"/>
            </a:endParaRPr>
          </a:p>
          <a:p>
            <a:pPr indent="-342900" lvl="0" marL="342900" rtl="0" algn="l">
              <a:lnSpc>
                <a:spcPct val="100000"/>
              </a:lnSpc>
              <a:spcBef>
                <a:spcPts val="640"/>
              </a:spcBef>
              <a:spcAft>
                <a:spcPts val="0"/>
              </a:spcAft>
              <a:buClr>
                <a:schemeClr val="dk1"/>
              </a:buClr>
              <a:buSzPts val="3200"/>
              <a:buFont typeface="Cambria"/>
              <a:buChar char="•"/>
            </a:pPr>
            <a:r>
              <a:rPr lang="en-IN">
                <a:latin typeface="Cambria"/>
                <a:ea typeface="Cambria"/>
                <a:cs typeface="Cambria"/>
                <a:sym typeface="Cambria"/>
              </a:rPr>
              <a:t>Bibliography</a:t>
            </a:r>
            <a:endParaRPr>
              <a:latin typeface="Cambria"/>
              <a:ea typeface="Cambria"/>
              <a:cs typeface="Cambria"/>
              <a:sym typeface="Cambria"/>
            </a:endParaRPr>
          </a:p>
        </p:txBody>
      </p:sp>
      <p:sp>
        <p:nvSpPr>
          <p:cNvPr id="186" name="Google Shape;186;p2"/>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IN"/>
              <a:t>23-08-</a:t>
            </a:r>
            <a:r>
              <a:rPr lang="en-IN"/>
              <a:t>2026</a:t>
            </a:r>
            <a:endParaRPr/>
          </a:p>
        </p:txBody>
      </p:sp>
      <p:sp>
        <p:nvSpPr>
          <p:cNvPr id="187" name="Google Shape;187;p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IN">
                <a:latin typeface="Cambria"/>
                <a:ea typeface="Cambria"/>
                <a:cs typeface="Cambria"/>
                <a:sym typeface="Cambria"/>
              </a:rPr>
              <a:t>Introduction</a:t>
            </a:r>
            <a:endParaRPr>
              <a:latin typeface="Cambria"/>
              <a:ea typeface="Cambria"/>
              <a:cs typeface="Cambria"/>
              <a:sym typeface="Cambria"/>
            </a:endParaRPr>
          </a:p>
        </p:txBody>
      </p:sp>
      <p:sp>
        <p:nvSpPr>
          <p:cNvPr id="193" name="Google Shape;193;p3"/>
          <p:cNvSpPr txBox="1"/>
          <p:nvPr>
            <p:ph idx="1" type="body"/>
          </p:nvPr>
        </p:nvSpPr>
        <p:spPr>
          <a:xfrm>
            <a:off x="166400" y="1327575"/>
            <a:ext cx="11896200" cy="4713000"/>
          </a:xfrm>
          <a:prstGeom prst="rect">
            <a:avLst/>
          </a:prstGeom>
          <a:noFill/>
          <a:ln>
            <a:noFill/>
          </a:ln>
        </p:spPr>
        <p:txBody>
          <a:bodyPr anchorCtr="0" anchor="t" bIns="45700" lIns="91425" spcFirstLastPara="1" rIns="91425" wrap="square" tIns="45700">
            <a:noAutofit/>
          </a:bodyPr>
          <a:lstStyle/>
          <a:p>
            <a:pPr indent="-374650" lvl="0" marL="457200" rtl="0" algn="l">
              <a:lnSpc>
                <a:spcPct val="115000"/>
              </a:lnSpc>
              <a:spcBef>
                <a:spcPts val="1200"/>
              </a:spcBef>
              <a:spcAft>
                <a:spcPts val="0"/>
              </a:spcAft>
              <a:buSzPts val="2300"/>
              <a:buFont typeface="Cambria"/>
              <a:buChar char="•"/>
            </a:pPr>
            <a:r>
              <a:rPr lang="en-IN" sz="2300">
                <a:latin typeface="Cambria"/>
                <a:ea typeface="Cambria"/>
                <a:cs typeface="Cambria"/>
                <a:sym typeface="Cambria"/>
              </a:rPr>
              <a:t>Solar energy is one of the most important renewable energy sources used worldwide. However, the performance of solar panels can decrease due to environmental and operational factors such as temperature variation, dust accumulation, shading, and electrical faults.</a:t>
            </a:r>
            <a:endParaRPr sz="2300">
              <a:latin typeface="Cambria"/>
              <a:ea typeface="Cambria"/>
              <a:cs typeface="Cambria"/>
              <a:sym typeface="Cambria"/>
            </a:endParaRPr>
          </a:p>
          <a:p>
            <a:pPr indent="-374650" lvl="0" marL="457200" rtl="0" algn="l">
              <a:lnSpc>
                <a:spcPct val="115000"/>
              </a:lnSpc>
              <a:spcBef>
                <a:spcPts val="0"/>
              </a:spcBef>
              <a:spcAft>
                <a:spcPts val="0"/>
              </a:spcAft>
              <a:buSzPts val="2300"/>
              <a:buFont typeface="Cambria"/>
              <a:buChar char="•"/>
            </a:pPr>
            <a:r>
              <a:rPr lang="en-IN" sz="2300">
                <a:latin typeface="Cambria"/>
                <a:ea typeface="Cambria"/>
                <a:cs typeface="Cambria"/>
                <a:sym typeface="Cambria"/>
              </a:rPr>
              <a:t>The proposed </a:t>
            </a:r>
            <a:r>
              <a:rPr b="1" lang="en-IN" sz="2300">
                <a:latin typeface="Cambria"/>
                <a:ea typeface="Cambria"/>
                <a:cs typeface="Cambria"/>
                <a:sym typeface="Cambria"/>
              </a:rPr>
              <a:t>Smart Solar Monitoring &amp; Predictive Maintenance System using IoT</a:t>
            </a:r>
            <a:r>
              <a:rPr lang="en-IN" sz="2300">
                <a:latin typeface="Cambria"/>
                <a:ea typeface="Cambria"/>
                <a:cs typeface="Cambria"/>
                <a:sym typeface="Cambria"/>
              </a:rPr>
              <a:t> is designed to monitor solar panel performance in real time. The system uses IoT sensors to collect voltage, current, temperature, power, and energy data. The collected data is transmitted through NodeMCU ESP8266 to a cloud/database server where it can be analyzed and visualized through a dashboard.</a:t>
            </a:r>
            <a:endParaRPr sz="2300">
              <a:latin typeface="Cambria"/>
              <a:ea typeface="Cambria"/>
              <a:cs typeface="Cambria"/>
              <a:sym typeface="Cambria"/>
            </a:endParaRPr>
          </a:p>
          <a:p>
            <a:pPr indent="-374650" lvl="0" marL="457200" rtl="0" algn="l">
              <a:lnSpc>
                <a:spcPct val="115000"/>
              </a:lnSpc>
              <a:spcBef>
                <a:spcPts val="0"/>
              </a:spcBef>
              <a:spcAft>
                <a:spcPts val="0"/>
              </a:spcAft>
              <a:buSzPts val="2300"/>
              <a:buFont typeface="Cambria"/>
              <a:buChar char="•"/>
            </a:pPr>
            <a:r>
              <a:rPr lang="en-IN" sz="2300">
                <a:latin typeface="Cambria"/>
                <a:ea typeface="Cambria"/>
                <a:cs typeface="Cambria"/>
                <a:sym typeface="Cambria"/>
              </a:rPr>
              <a:t>The project aims to improve solar system monitoring and provide maintenance recommendations based on performance analysis.</a:t>
            </a:r>
            <a:endParaRPr sz="2300">
              <a:latin typeface="Cambria"/>
              <a:ea typeface="Cambria"/>
              <a:cs typeface="Cambria"/>
              <a:sym typeface="Cambria"/>
            </a:endParaRPr>
          </a:p>
        </p:txBody>
      </p:sp>
      <p:sp>
        <p:nvSpPr>
          <p:cNvPr id="194" name="Google Shape;194;p3"/>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rPr lang="en-IN"/>
              <a:t>23-08-2026</a:t>
            </a:r>
            <a:endParaRPr/>
          </a:p>
        </p:txBody>
      </p:sp>
      <p:sp>
        <p:nvSpPr>
          <p:cNvPr id="195" name="Google Shape;195;p3"/>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
        <p:nvSpPr>
          <p:cNvPr id="196" name="Google Shape;196;p3"/>
          <p:cNvSpPr txBox="1"/>
          <p:nvPr/>
        </p:nvSpPr>
        <p:spPr>
          <a:xfrm>
            <a:off x="3454400" y="6211669"/>
            <a:ext cx="60960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alibri"/>
              <a:buNone/>
            </a:pPr>
            <a:r>
              <a:rPr b="0" i="0" lang="en-IN" sz="1800" u="none" cap="none" strike="noStrike">
                <a:solidFill>
                  <a:schemeClr val="dk1"/>
                </a:solidFill>
                <a:latin typeface="Calibri"/>
                <a:ea typeface="Calibri"/>
                <a:cs typeface="Calibri"/>
                <a:sym typeface="Calibri"/>
              </a:rPr>
              <a:t>DEPARTMENT OF COMPUTER ENGINEERING </a:t>
            </a:r>
            <a:endParaRPr b="0"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800"/>
              <a:buFont typeface="Calibri"/>
              <a:buNone/>
            </a:pPr>
            <a:r>
              <a:rPr b="0" i="0" lang="en-IN" sz="1800" u="none" cap="none" strike="noStrike">
                <a:solidFill>
                  <a:schemeClr val="dk1"/>
                </a:solidFill>
                <a:latin typeface="Calibri"/>
                <a:ea typeface="Calibri"/>
                <a:cs typeface="Calibri"/>
                <a:sym typeface="Calibri"/>
              </a:rPr>
              <a:t>*Proprietary material of SILVER OAK UNIVERSITY</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IN">
                <a:latin typeface="Cambria"/>
                <a:ea typeface="Cambria"/>
                <a:cs typeface="Cambria"/>
                <a:sym typeface="Cambria"/>
              </a:rPr>
              <a:t>Background and Motivation</a:t>
            </a:r>
            <a:endParaRPr>
              <a:latin typeface="Cambria"/>
              <a:ea typeface="Cambria"/>
              <a:cs typeface="Cambria"/>
              <a:sym typeface="Cambria"/>
            </a:endParaRPr>
          </a:p>
        </p:txBody>
      </p:sp>
      <p:sp>
        <p:nvSpPr>
          <p:cNvPr id="202" name="Google Shape;202;p4"/>
          <p:cNvSpPr txBox="1"/>
          <p:nvPr>
            <p:ph idx="1" type="body"/>
          </p:nvPr>
        </p:nvSpPr>
        <p:spPr>
          <a:xfrm>
            <a:off x="609600" y="1600201"/>
            <a:ext cx="10972800" cy="45261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IN" sz="1700">
                <a:latin typeface="Cambria"/>
                <a:ea typeface="Cambria"/>
                <a:cs typeface="Cambria"/>
                <a:sym typeface="Cambria"/>
              </a:rPr>
              <a:t>As the adoption of solar energy increases, maintaining optimal solar panel performance becomes increasingly important. Traditional monitoring methods often require manual inspection and do not provide continuous performance tracking.</a:t>
            </a:r>
            <a:endParaRPr sz="1700">
              <a:latin typeface="Cambria"/>
              <a:ea typeface="Cambria"/>
              <a:cs typeface="Cambria"/>
              <a:sym typeface="Cambria"/>
            </a:endParaRPr>
          </a:p>
          <a:p>
            <a:pPr indent="0" lvl="0" marL="0" rtl="0" algn="l">
              <a:lnSpc>
                <a:spcPct val="115000"/>
              </a:lnSpc>
              <a:spcBef>
                <a:spcPts val="1200"/>
              </a:spcBef>
              <a:spcAft>
                <a:spcPts val="0"/>
              </a:spcAft>
              <a:buNone/>
            </a:pPr>
            <a:r>
              <a:rPr lang="en-IN" sz="1700">
                <a:latin typeface="Cambria"/>
                <a:ea typeface="Cambria"/>
                <a:cs typeface="Cambria"/>
                <a:sym typeface="Cambria"/>
              </a:rPr>
              <a:t>Many solar installations face issues such as:</a:t>
            </a:r>
            <a:endParaRPr sz="1700">
              <a:latin typeface="Cambria"/>
              <a:ea typeface="Cambria"/>
              <a:cs typeface="Cambria"/>
              <a:sym typeface="Cambria"/>
            </a:endParaRPr>
          </a:p>
          <a:p>
            <a:pPr indent="-336550" lvl="0" marL="457200" rtl="0" algn="l">
              <a:lnSpc>
                <a:spcPct val="115000"/>
              </a:lnSpc>
              <a:spcBef>
                <a:spcPts val="1200"/>
              </a:spcBef>
              <a:spcAft>
                <a:spcPts val="0"/>
              </a:spcAft>
              <a:buSzPts val="1700"/>
              <a:buFont typeface="Cambria"/>
              <a:buChar char="●"/>
            </a:pPr>
            <a:r>
              <a:rPr lang="en-IN" sz="1700">
                <a:latin typeface="Cambria"/>
                <a:ea typeface="Cambria"/>
                <a:cs typeface="Cambria"/>
                <a:sym typeface="Cambria"/>
              </a:rPr>
              <a:t>Dust accumulation on panels</a:t>
            </a:r>
            <a:endParaRPr sz="1700">
              <a:latin typeface="Cambria"/>
              <a:ea typeface="Cambria"/>
              <a:cs typeface="Cambria"/>
              <a:sym typeface="Cambria"/>
            </a:endParaRPr>
          </a:p>
          <a:p>
            <a:pPr indent="-336550" lvl="0" marL="457200" rtl="0" algn="l">
              <a:lnSpc>
                <a:spcPct val="115000"/>
              </a:lnSpc>
              <a:spcBef>
                <a:spcPts val="0"/>
              </a:spcBef>
              <a:spcAft>
                <a:spcPts val="0"/>
              </a:spcAft>
              <a:buSzPts val="1700"/>
              <a:buFont typeface="Cambria"/>
              <a:buChar char="●"/>
            </a:pPr>
            <a:r>
              <a:rPr lang="en-IN" sz="1700">
                <a:latin typeface="Cambria"/>
                <a:ea typeface="Cambria"/>
                <a:cs typeface="Cambria"/>
                <a:sym typeface="Cambria"/>
              </a:rPr>
              <a:t>Partial shading</a:t>
            </a:r>
            <a:endParaRPr sz="1700">
              <a:latin typeface="Cambria"/>
              <a:ea typeface="Cambria"/>
              <a:cs typeface="Cambria"/>
              <a:sym typeface="Cambria"/>
            </a:endParaRPr>
          </a:p>
          <a:p>
            <a:pPr indent="-336550" lvl="0" marL="457200" rtl="0" algn="l">
              <a:lnSpc>
                <a:spcPct val="115000"/>
              </a:lnSpc>
              <a:spcBef>
                <a:spcPts val="0"/>
              </a:spcBef>
              <a:spcAft>
                <a:spcPts val="0"/>
              </a:spcAft>
              <a:buSzPts val="1700"/>
              <a:buFont typeface="Cambria"/>
              <a:buChar char="●"/>
            </a:pPr>
            <a:r>
              <a:rPr lang="en-IN" sz="1700">
                <a:latin typeface="Cambria"/>
                <a:ea typeface="Cambria"/>
                <a:cs typeface="Cambria"/>
                <a:sym typeface="Cambria"/>
              </a:rPr>
              <a:t>Temperature-related efficiency loss</a:t>
            </a:r>
            <a:endParaRPr sz="1700">
              <a:latin typeface="Cambria"/>
              <a:ea typeface="Cambria"/>
              <a:cs typeface="Cambria"/>
              <a:sym typeface="Cambria"/>
            </a:endParaRPr>
          </a:p>
          <a:p>
            <a:pPr indent="-336550" lvl="0" marL="457200" rtl="0" algn="l">
              <a:lnSpc>
                <a:spcPct val="115000"/>
              </a:lnSpc>
              <a:spcBef>
                <a:spcPts val="0"/>
              </a:spcBef>
              <a:spcAft>
                <a:spcPts val="0"/>
              </a:spcAft>
              <a:buSzPts val="1700"/>
              <a:buFont typeface="Cambria"/>
              <a:buChar char="●"/>
            </a:pPr>
            <a:r>
              <a:rPr lang="en-IN" sz="1700">
                <a:latin typeface="Cambria"/>
                <a:ea typeface="Cambria"/>
                <a:cs typeface="Cambria"/>
                <a:sym typeface="Cambria"/>
              </a:rPr>
              <a:t>Loose electrical connections</a:t>
            </a:r>
            <a:endParaRPr sz="1700">
              <a:latin typeface="Cambria"/>
              <a:ea typeface="Cambria"/>
              <a:cs typeface="Cambria"/>
              <a:sym typeface="Cambria"/>
            </a:endParaRPr>
          </a:p>
          <a:p>
            <a:pPr indent="-336550" lvl="0" marL="457200" rtl="0" algn="l">
              <a:lnSpc>
                <a:spcPct val="115000"/>
              </a:lnSpc>
              <a:spcBef>
                <a:spcPts val="0"/>
              </a:spcBef>
              <a:spcAft>
                <a:spcPts val="0"/>
              </a:spcAft>
              <a:buSzPts val="1700"/>
              <a:buFont typeface="Cambria"/>
              <a:buChar char="●"/>
            </a:pPr>
            <a:r>
              <a:rPr lang="en-IN" sz="1700">
                <a:latin typeface="Cambria"/>
                <a:ea typeface="Cambria"/>
                <a:cs typeface="Cambria"/>
                <a:sym typeface="Cambria"/>
              </a:rPr>
              <a:t>Performance degradation over time</a:t>
            </a:r>
            <a:endParaRPr sz="1700">
              <a:latin typeface="Cambria"/>
              <a:ea typeface="Cambria"/>
              <a:cs typeface="Cambria"/>
              <a:sym typeface="Cambria"/>
            </a:endParaRPr>
          </a:p>
          <a:p>
            <a:pPr indent="0" lvl="0" marL="0" rtl="0" algn="l">
              <a:lnSpc>
                <a:spcPct val="115000"/>
              </a:lnSpc>
              <a:spcBef>
                <a:spcPts val="1200"/>
              </a:spcBef>
              <a:spcAft>
                <a:spcPts val="0"/>
              </a:spcAft>
              <a:buNone/>
            </a:pPr>
            <a:r>
              <a:rPr lang="en-IN" sz="1700">
                <a:latin typeface="Cambria"/>
                <a:ea typeface="Cambria"/>
                <a:cs typeface="Cambria"/>
                <a:sym typeface="Cambria"/>
              </a:rPr>
              <a:t>These issues may reduce energy generation and increase maintenance costs.</a:t>
            </a:r>
            <a:endParaRPr sz="1700">
              <a:latin typeface="Cambria"/>
              <a:ea typeface="Cambria"/>
              <a:cs typeface="Cambria"/>
              <a:sym typeface="Cambria"/>
            </a:endParaRPr>
          </a:p>
          <a:p>
            <a:pPr indent="0" lvl="0" marL="0" rtl="0" algn="l">
              <a:lnSpc>
                <a:spcPct val="115000"/>
              </a:lnSpc>
              <a:spcBef>
                <a:spcPts val="1200"/>
              </a:spcBef>
              <a:spcAft>
                <a:spcPts val="1200"/>
              </a:spcAft>
              <a:buNone/>
            </a:pPr>
            <a:r>
              <a:rPr lang="en-IN" sz="1700">
                <a:latin typeface="Cambria"/>
                <a:ea typeface="Cambria"/>
                <a:cs typeface="Cambria"/>
                <a:sym typeface="Cambria"/>
              </a:rPr>
              <a:t>The motivation behind this project is to develop a low-cost IoT-based solution that can continuously monitor solar panel health, identify abnormal conditions, and assist users in making maintenance decisions before major performance loss occurs.</a:t>
            </a:r>
            <a:endParaRPr sz="1700">
              <a:latin typeface="Cambria"/>
              <a:ea typeface="Cambria"/>
              <a:cs typeface="Cambria"/>
              <a:sym typeface="Cambria"/>
            </a:endParaRPr>
          </a:p>
        </p:txBody>
      </p:sp>
      <p:sp>
        <p:nvSpPr>
          <p:cNvPr id="203" name="Google Shape;203;p4"/>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rPr lang="en-IN"/>
              <a:t>23-08-2026</a:t>
            </a:r>
            <a:endParaRPr/>
          </a:p>
        </p:txBody>
      </p:sp>
      <p:sp>
        <p:nvSpPr>
          <p:cNvPr id="204" name="Google Shape;204;p4"/>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IN"/>
              <a:t>‹#›</a:t>
            </a:fld>
            <a:endParaRPr/>
          </a:p>
        </p:txBody>
      </p:sp>
      <p:sp>
        <p:nvSpPr>
          <p:cNvPr id="205" name="Google Shape;205;p4"/>
          <p:cNvSpPr txBox="1"/>
          <p:nvPr/>
        </p:nvSpPr>
        <p:spPr>
          <a:xfrm>
            <a:off x="3454400" y="6211669"/>
            <a:ext cx="60960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DEPARTMENT OF COMPUTER ENGINEERING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*Proprietary material of SILVER OAK UNIVERSITY</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IN">
                <a:latin typeface="Cambria"/>
                <a:ea typeface="Cambria"/>
                <a:cs typeface="Cambria"/>
                <a:sym typeface="Cambria"/>
              </a:rPr>
              <a:t>Relevance and Importance</a:t>
            </a:r>
            <a:endParaRPr>
              <a:latin typeface="Cambria"/>
              <a:ea typeface="Cambria"/>
              <a:cs typeface="Cambria"/>
              <a:sym typeface="Cambria"/>
            </a:endParaRPr>
          </a:p>
        </p:txBody>
      </p:sp>
      <p:sp>
        <p:nvSpPr>
          <p:cNvPr id="211" name="Google Shape;211;p5"/>
          <p:cNvSpPr txBox="1"/>
          <p:nvPr>
            <p:ph idx="1" type="body"/>
          </p:nvPr>
        </p:nvSpPr>
        <p:spPr>
          <a:xfrm>
            <a:off x="609600" y="1600201"/>
            <a:ext cx="10972800" cy="45261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en-IN" sz="1500">
                <a:latin typeface="Cambria"/>
                <a:ea typeface="Cambria"/>
                <a:cs typeface="Cambria"/>
                <a:sym typeface="Cambria"/>
              </a:rPr>
              <a:t>Importance</a:t>
            </a:r>
            <a:endParaRPr b="1" sz="1500">
              <a:latin typeface="Cambria"/>
              <a:ea typeface="Cambria"/>
              <a:cs typeface="Cambria"/>
              <a:sym typeface="Cambria"/>
            </a:endParaRPr>
          </a:p>
          <a:p>
            <a:pPr indent="-311150" lvl="0" marL="457200" rtl="0" algn="l">
              <a:lnSpc>
                <a:spcPct val="115000"/>
              </a:lnSpc>
              <a:spcBef>
                <a:spcPts val="1200"/>
              </a:spcBef>
              <a:spcAft>
                <a:spcPts val="0"/>
              </a:spcAft>
              <a:buSzPts val="1300"/>
              <a:buFont typeface="Cambria"/>
              <a:buChar char="●"/>
            </a:pPr>
            <a:r>
              <a:rPr lang="en-IN" sz="1300">
                <a:latin typeface="Cambria"/>
                <a:ea typeface="Cambria"/>
                <a:cs typeface="Cambria"/>
                <a:sym typeface="Cambria"/>
              </a:rPr>
              <a:t>Enables real-time solar performance monitoring.</a:t>
            </a:r>
            <a:endParaRPr sz="1300">
              <a:latin typeface="Cambria"/>
              <a:ea typeface="Cambria"/>
              <a:cs typeface="Cambria"/>
              <a:sym typeface="Cambria"/>
            </a:endParaRPr>
          </a:p>
          <a:p>
            <a:pPr indent="-311150" lvl="0" marL="457200" rtl="0" algn="l">
              <a:lnSpc>
                <a:spcPct val="115000"/>
              </a:lnSpc>
              <a:spcBef>
                <a:spcPts val="0"/>
              </a:spcBef>
              <a:spcAft>
                <a:spcPts val="0"/>
              </a:spcAft>
              <a:buSzPts val="1300"/>
              <a:buFont typeface="Cambria"/>
              <a:buChar char="●"/>
            </a:pPr>
            <a:r>
              <a:rPr lang="en-IN" sz="1300">
                <a:latin typeface="Cambria"/>
                <a:ea typeface="Cambria"/>
                <a:cs typeface="Cambria"/>
                <a:sym typeface="Cambria"/>
              </a:rPr>
              <a:t>Helps identify abnormal system behavior.</a:t>
            </a:r>
            <a:endParaRPr sz="1300">
              <a:latin typeface="Cambria"/>
              <a:ea typeface="Cambria"/>
              <a:cs typeface="Cambria"/>
              <a:sym typeface="Cambria"/>
            </a:endParaRPr>
          </a:p>
          <a:p>
            <a:pPr indent="-311150" lvl="0" marL="457200" rtl="0" algn="l">
              <a:lnSpc>
                <a:spcPct val="115000"/>
              </a:lnSpc>
              <a:spcBef>
                <a:spcPts val="0"/>
              </a:spcBef>
              <a:spcAft>
                <a:spcPts val="0"/>
              </a:spcAft>
              <a:buSzPts val="1300"/>
              <a:buFont typeface="Cambria"/>
              <a:buChar char="●"/>
            </a:pPr>
            <a:r>
              <a:rPr lang="en-IN" sz="1300">
                <a:latin typeface="Cambria"/>
                <a:ea typeface="Cambria"/>
                <a:cs typeface="Cambria"/>
                <a:sym typeface="Cambria"/>
              </a:rPr>
              <a:t>Supports preventive maintenance.</a:t>
            </a:r>
            <a:endParaRPr sz="1300">
              <a:latin typeface="Cambria"/>
              <a:ea typeface="Cambria"/>
              <a:cs typeface="Cambria"/>
              <a:sym typeface="Cambria"/>
            </a:endParaRPr>
          </a:p>
          <a:p>
            <a:pPr indent="-311150" lvl="0" marL="457200" rtl="0" algn="l">
              <a:lnSpc>
                <a:spcPct val="115000"/>
              </a:lnSpc>
              <a:spcBef>
                <a:spcPts val="0"/>
              </a:spcBef>
              <a:spcAft>
                <a:spcPts val="0"/>
              </a:spcAft>
              <a:buSzPts val="1300"/>
              <a:buFont typeface="Cambria"/>
              <a:buChar char="●"/>
            </a:pPr>
            <a:r>
              <a:rPr lang="en-IN" sz="1300">
                <a:latin typeface="Cambria"/>
                <a:ea typeface="Cambria"/>
                <a:cs typeface="Cambria"/>
                <a:sym typeface="Cambria"/>
              </a:rPr>
              <a:t>Improves overall solar system efficiency.</a:t>
            </a:r>
            <a:endParaRPr sz="1300">
              <a:latin typeface="Cambria"/>
              <a:ea typeface="Cambria"/>
              <a:cs typeface="Cambria"/>
              <a:sym typeface="Cambria"/>
            </a:endParaRPr>
          </a:p>
          <a:p>
            <a:pPr indent="-311150" lvl="0" marL="457200" rtl="0" algn="l">
              <a:lnSpc>
                <a:spcPct val="115000"/>
              </a:lnSpc>
              <a:spcBef>
                <a:spcPts val="0"/>
              </a:spcBef>
              <a:spcAft>
                <a:spcPts val="0"/>
              </a:spcAft>
              <a:buSzPts val="1300"/>
              <a:buFont typeface="Cambria"/>
              <a:buChar char="●"/>
            </a:pPr>
            <a:r>
              <a:rPr lang="en-IN" sz="1300">
                <a:latin typeface="Cambria"/>
                <a:ea typeface="Cambria"/>
                <a:cs typeface="Cambria"/>
                <a:sym typeface="Cambria"/>
              </a:rPr>
              <a:t>Reduces manual inspection requirements.</a:t>
            </a:r>
            <a:endParaRPr sz="1300">
              <a:latin typeface="Cambria"/>
              <a:ea typeface="Cambria"/>
              <a:cs typeface="Cambria"/>
              <a:sym typeface="Cambria"/>
            </a:endParaRPr>
          </a:p>
          <a:p>
            <a:pPr indent="-311150" lvl="0" marL="457200" rtl="0" algn="l">
              <a:lnSpc>
                <a:spcPct val="115000"/>
              </a:lnSpc>
              <a:spcBef>
                <a:spcPts val="0"/>
              </a:spcBef>
              <a:spcAft>
                <a:spcPts val="0"/>
              </a:spcAft>
              <a:buSzPts val="1300"/>
              <a:buFont typeface="Cambria"/>
              <a:buChar char="●"/>
            </a:pPr>
            <a:r>
              <a:rPr lang="en-IN" sz="1300">
                <a:latin typeface="Cambria"/>
                <a:ea typeface="Cambria"/>
                <a:cs typeface="Cambria"/>
                <a:sym typeface="Cambria"/>
              </a:rPr>
              <a:t>Provides historical data for performance analysis.</a:t>
            </a:r>
            <a:endParaRPr sz="1300">
              <a:latin typeface="Cambria"/>
              <a:ea typeface="Cambria"/>
              <a:cs typeface="Cambria"/>
              <a:sym typeface="Cambria"/>
            </a:endParaRPr>
          </a:p>
          <a:p>
            <a:pPr indent="0" lvl="0" marL="0" rtl="0" algn="l">
              <a:lnSpc>
                <a:spcPct val="115000"/>
              </a:lnSpc>
              <a:spcBef>
                <a:spcPts val="1400"/>
              </a:spcBef>
              <a:spcAft>
                <a:spcPts val="0"/>
              </a:spcAft>
              <a:buNone/>
            </a:pPr>
            <a:r>
              <a:rPr b="1" lang="en-IN" sz="1500">
                <a:latin typeface="Cambria"/>
                <a:ea typeface="Cambria"/>
                <a:cs typeface="Cambria"/>
                <a:sym typeface="Cambria"/>
              </a:rPr>
              <a:t>Applications</a:t>
            </a:r>
            <a:endParaRPr b="1" sz="1500">
              <a:latin typeface="Cambria"/>
              <a:ea typeface="Cambria"/>
              <a:cs typeface="Cambria"/>
              <a:sym typeface="Cambria"/>
            </a:endParaRPr>
          </a:p>
          <a:p>
            <a:pPr indent="-311150" lvl="0" marL="457200" rtl="0" algn="l">
              <a:lnSpc>
                <a:spcPct val="115000"/>
              </a:lnSpc>
              <a:spcBef>
                <a:spcPts val="1200"/>
              </a:spcBef>
              <a:spcAft>
                <a:spcPts val="0"/>
              </a:spcAft>
              <a:buSzPts val="1300"/>
              <a:buFont typeface="Cambria"/>
              <a:buChar char="●"/>
            </a:pPr>
            <a:r>
              <a:rPr lang="en-IN" sz="1300">
                <a:latin typeface="Cambria"/>
                <a:ea typeface="Cambria"/>
                <a:cs typeface="Cambria"/>
                <a:sym typeface="Cambria"/>
              </a:rPr>
              <a:t>Residential solar systems</a:t>
            </a:r>
            <a:endParaRPr sz="1300">
              <a:latin typeface="Cambria"/>
              <a:ea typeface="Cambria"/>
              <a:cs typeface="Cambria"/>
              <a:sym typeface="Cambria"/>
            </a:endParaRPr>
          </a:p>
          <a:p>
            <a:pPr indent="-311150" lvl="0" marL="457200" rtl="0" algn="l">
              <a:lnSpc>
                <a:spcPct val="115000"/>
              </a:lnSpc>
              <a:spcBef>
                <a:spcPts val="0"/>
              </a:spcBef>
              <a:spcAft>
                <a:spcPts val="0"/>
              </a:spcAft>
              <a:buSzPts val="1300"/>
              <a:buFont typeface="Cambria"/>
              <a:buChar char="●"/>
            </a:pPr>
            <a:r>
              <a:rPr lang="en-IN" sz="1300">
                <a:latin typeface="Cambria"/>
                <a:ea typeface="Cambria"/>
                <a:cs typeface="Cambria"/>
                <a:sym typeface="Cambria"/>
              </a:rPr>
              <a:t>Commercial solar installations</a:t>
            </a:r>
            <a:endParaRPr sz="1300">
              <a:latin typeface="Cambria"/>
              <a:ea typeface="Cambria"/>
              <a:cs typeface="Cambria"/>
              <a:sym typeface="Cambria"/>
            </a:endParaRPr>
          </a:p>
          <a:p>
            <a:pPr indent="-311150" lvl="0" marL="457200" rtl="0" algn="l">
              <a:lnSpc>
                <a:spcPct val="115000"/>
              </a:lnSpc>
              <a:spcBef>
                <a:spcPts val="0"/>
              </a:spcBef>
              <a:spcAft>
                <a:spcPts val="0"/>
              </a:spcAft>
              <a:buSzPts val="1300"/>
              <a:buFont typeface="Cambria"/>
              <a:buChar char="●"/>
            </a:pPr>
            <a:r>
              <a:rPr lang="en-IN" sz="1300">
                <a:latin typeface="Cambria"/>
                <a:ea typeface="Cambria"/>
                <a:cs typeface="Cambria"/>
                <a:sym typeface="Cambria"/>
              </a:rPr>
              <a:t>Educational institutions</a:t>
            </a:r>
            <a:endParaRPr sz="1300">
              <a:latin typeface="Cambria"/>
              <a:ea typeface="Cambria"/>
              <a:cs typeface="Cambria"/>
              <a:sym typeface="Cambria"/>
            </a:endParaRPr>
          </a:p>
          <a:p>
            <a:pPr indent="-311150" lvl="0" marL="457200" rtl="0" algn="l">
              <a:lnSpc>
                <a:spcPct val="115000"/>
              </a:lnSpc>
              <a:spcBef>
                <a:spcPts val="0"/>
              </a:spcBef>
              <a:spcAft>
                <a:spcPts val="0"/>
              </a:spcAft>
              <a:buSzPts val="1300"/>
              <a:buFont typeface="Cambria"/>
              <a:buChar char="●"/>
            </a:pPr>
            <a:r>
              <a:rPr lang="en-IN" sz="1300">
                <a:latin typeface="Cambria"/>
                <a:ea typeface="Cambria"/>
                <a:cs typeface="Cambria"/>
                <a:sym typeface="Cambria"/>
              </a:rPr>
              <a:t>Industrial solar plants</a:t>
            </a:r>
            <a:endParaRPr sz="1300">
              <a:latin typeface="Cambria"/>
              <a:ea typeface="Cambria"/>
              <a:cs typeface="Cambria"/>
              <a:sym typeface="Cambria"/>
            </a:endParaRPr>
          </a:p>
          <a:p>
            <a:pPr indent="-311150" lvl="0" marL="457200" rtl="0" algn="l">
              <a:lnSpc>
                <a:spcPct val="115000"/>
              </a:lnSpc>
              <a:spcBef>
                <a:spcPts val="0"/>
              </a:spcBef>
              <a:spcAft>
                <a:spcPts val="0"/>
              </a:spcAft>
              <a:buSzPts val="1300"/>
              <a:buFont typeface="Cambria"/>
              <a:buChar char="●"/>
            </a:pPr>
            <a:r>
              <a:rPr lang="en-IN" sz="1300">
                <a:latin typeface="Cambria"/>
                <a:ea typeface="Cambria"/>
                <a:cs typeface="Cambria"/>
                <a:sym typeface="Cambria"/>
              </a:rPr>
              <a:t>Smart energy management systems</a:t>
            </a:r>
            <a:endParaRPr sz="1300">
              <a:latin typeface="Cambria"/>
              <a:ea typeface="Cambria"/>
              <a:cs typeface="Cambria"/>
              <a:sym typeface="Cambria"/>
            </a:endParaRPr>
          </a:p>
          <a:p>
            <a:pPr indent="0" lvl="0" marL="0" rtl="0" algn="l">
              <a:lnSpc>
                <a:spcPct val="115000"/>
              </a:lnSpc>
              <a:spcBef>
                <a:spcPts val="1200"/>
              </a:spcBef>
              <a:spcAft>
                <a:spcPts val="1200"/>
              </a:spcAft>
              <a:buNone/>
            </a:pPr>
            <a:r>
              <a:rPr lang="en-IN" sz="1300">
                <a:latin typeface="Cambria"/>
                <a:ea typeface="Cambria"/>
                <a:cs typeface="Cambria"/>
                <a:sym typeface="Cambria"/>
              </a:rPr>
              <a:t>The project combines IoT, Embedded Systems, Cloud Communication, Database Management, and Data Analytics into a practical renewable-energy application.</a:t>
            </a:r>
            <a:endParaRPr sz="3400">
              <a:latin typeface="Cambria"/>
              <a:ea typeface="Cambria"/>
              <a:cs typeface="Cambria"/>
              <a:sym typeface="Cambria"/>
            </a:endParaRPr>
          </a:p>
        </p:txBody>
      </p:sp>
      <p:sp>
        <p:nvSpPr>
          <p:cNvPr id="212" name="Google Shape;212;p5"/>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rPr lang="en-IN"/>
              <a:t>23-08-2026</a:t>
            </a:r>
            <a:endParaRPr/>
          </a:p>
        </p:txBody>
      </p:sp>
      <p:sp>
        <p:nvSpPr>
          <p:cNvPr id="213" name="Google Shape;213;p5"/>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IN"/>
              <a:t>‹#›</a:t>
            </a:fld>
            <a:endParaRPr/>
          </a:p>
        </p:txBody>
      </p:sp>
      <p:sp>
        <p:nvSpPr>
          <p:cNvPr id="214" name="Google Shape;214;p5"/>
          <p:cNvSpPr txBox="1"/>
          <p:nvPr/>
        </p:nvSpPr>
        <p:spPr>
          <a:xfrm>
            <a:off x="3454400" y="6211669"/>
            <a:ext cx="60960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mbria"/>
                <a:ea typeface="Cambria"/>
                <a:cs typeface="Cambria"/>
                <a:sym typeface="Cambria"/>
              </a:rPr>
              <a:t>DEPARTMENT OF COMPUTER ENGINEERING </a:t>
            </a:r>
            <a:endParaRPr b="0" i="0" sz="1400" u="none" cap="none" strike="noStrike">
              <a:solidFill>
                <a:srgbClr val="000000"/>
              </a:solidFill>
              <a:latin typeface="Cambria"/>
              <a:ea typeface="Cambria"/>
              <a:cs typeface="Cambria"/>
              <a:sym typeface="Cambria"/>
            </a:endParaRPr>
          </a:p>
          <a:p>
            <a:pPr indent="0" lvl="0" marL="0" marR="0" rtl="0" algn="ctr">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mbria"/>
                <a:ea typeface="Cambria"/>
                <a:cs typeface="Cambria"/>
                <a:sym typeface="Cambria"/>
              </a:rPr>
              <a:t>*Proprietary material of SILVER OAK UNIVERSITY</a:t>
            </a:r>
            <a:endParaRPr b="0" i="0" sz="1800" u="none" cap="none" strike="noStrike">
              <a:solidFill>
                <a:schemeClr val="dk1"/>
              </a:solidFill>
              <a:latin typeface="Cambria"/>
              <a:ea typeface="Cambria"/>
              <a:cs typeface="Cambria"/>
              <a:sym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IN">
                <a:latin typeface="Cambria"/>
                <a:ea typeface="Cambria"/>
                <a:cs typeface="Cambria"/>
                <a:sym typeface="Cambria"/>
              </a:rPr>
              <a:t>Literature Review</a:t>
            </a:r>
            <a:endParaRPr>
              <a:latin typeface="Cambria"/>
              <a:ea typeface="Cambria"/>
              <a:cs typeface="Cambria"/>
              <a:sym typeface="Cambria"/>
            </a:endParaRPr>
          </a:p>
        </p:txBody>
      </p:sp>
      <p:sp>
        <p:nvSpPr>
          <p:cNvPr id="220" name="Google Shape;220;p6"/>
          <p:cNvSpPr txBox="1"/>
          <p:nvPr>
            <p:ph idx="1" type="body"/>
          </p:nvPr>
        </p:nvSpPr>
        <p:spPr>
          <a:xfrm>
            <a:off x="609600" y="1600201"/>
            <a:ext cx="10972800" cy="45261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Cambria"/>
              <a:buChar char="•"/>
            </a:pPr>
            <a:r>
              <a:rPr lang="en-IN" sz="2400">
                <a:latin typeface="Cambria"/>
                <a:ea typeface="Cambria"/>
                <a:cs typeface="Cambria"/>
                <a:sym typeface="Cambria"/>
              </a:rPr>
              <a:t>Traditional rule-based security systems use fixed thresholds (for example, blocking logins after 9 PM), which are rigid and generate many false alarms.</a:t>
            </a:r>
            <a:endParaRPr sz="2400">
              <a:latin typeface="Cambria"/>
              <a:ea typeface="Cambria"/>
              <a:cs typeface="Cambria"/>
              <a:sym typeface="Cambria"/>
            </a:endParaRPr>
          </a:p>
          <a:p>
            <a:pPr indent="-342900" lvl="0" marL="342900" rtl="0" algn="l">
              <a:lnSpc>
                <a:spcPct val="100000"/>
              </a:lnSpc>
              <a:spcBef>
                <a:spcPts val="1200"/>
              </a:spcBef>
              <a:spcAft>
                <a:spcPts val="0"/>
              </a:spcAft>
              <a:buClr>
                <a:schemeClr val="dk1"/>
              </a:buClr>
              <a:buSzPts val="3200"/>
              <a:buFont typeface="Cambria"/>
              <a:buChar char="•"/>
            </a:pPr>
            <a:r>
              <a:rPr lang="en-IN" sz="2400">
                <a:latin typeface="Cambria"/>
                <a:ea typeface="Cambria"/>
                <a:cs typeface="Cambria"/>
                <a:sym typeface="Cambria"/>
              </a:rPr>
              <a:t>Current UEBA research favors unsupervised anomaly detection methods, such as Isolation Forest, since real, labeled attack data is rarely available in practice.</a:t>
            </a:r>
            <a:endParaRPr sz="2400">
              <a:latin typeface="Cambria"/>
              <a:ea typeface="Cambria"/>
              <a:cs typeface="Cambria"/>
              <a:sym typeface="Cambria"/>
            </a:endParaRPr>
          </a:p>
          <a:p>
            <a:pPr indent="-342900" lvl="0" marL="342900" rtl="0" algn="l">
              <a:lnSpc>
                <a:spcPct val="100000"/>
              </a:lnSpc>
              <a:spcBef>
                <a:spcPts val="1200"/>
              </a:spcBef>
              <a:spcAft>
                <a:spcPts val="0"/>
              </a:spcAft>
              <a:buClr>
                <a:schemeClr val="dk1"/>
              </a:buClr>
              <a:buSzPts val="3200"/>
              <a:buFont typeface="Cambria"/>
              <a:buChar char="•"/>
            </a:pPr>
            <a:r>
              <a:rPr lang="en-IN" sz="2400">
                <a:latin typeface="Cambria"/>
                <a:ea typeface="Cambria"/>
                <a:cs typeface="Cambria"/>
                <a:sym typeface="Cambria"/>
              </a:rPr>
              <a:t>Explainable AI methods like SHAP (SHapley Additive exPlanations) are increasingly used in security tools so analysts understand why a login was flagged, not just that it was flagged.</a:t>
            </a:r>
            <a:endParaRPr sz="2400">
              <a:latin typeface="Cambria"/>
              <a:ea typeface="Cambria"/>
              <a:cs typeface="Cambria"/>
              <a:sym typeface="Cambria"/>
            </a:endParaRPr>
          </a:p>
          <a:p>
            <a:pPr indent="-342900" lvl="0" marL="342900" rtl="0" algn="l">
              <a:lnSpc>
                <a:spcPct val="100000"/>
              </a:lnSpc>
              <a:spcBef>
                <a:spcPts val="1200"/>
              </a:spcBef>
              <a:spcAft>
                <a:spcPts val="0"/>
              </a:spcAft>
              <a:buClr>
                <a:schemeClr val="dk1"/>
              </a:buClr>
              <a:buSzPts val="3200"/>
              <a:buFont typeface="Cambria"/>
              <a:buChar char="•"/>
            </a:pPr>
            <a:r>
              <a:rPr lang="en-IN" sz="2400">
                <a:latin typeface="Cambria"/>
                <a:ea typeface="Cambria"/>
                <a:cs typeface="Cambria"/>
                <a:sym typeface="Cambria"/>
              </a:rPr>
              <a:t>MITRE ATT&amp;CK has become the industry-standard framework for classifying real attacker techniques, and is now integrated into modern SOC and SIEM tools.</a:t>
            </a:r>
            <a:endParaRPr sz="2400">
              <a:latin typeface="Cambria"/>
              <a:ea typeface="Cambria"/>
              <a:cs typeface="Cambria"/>
              <a:sym typeface="Cambria"/>
            </a:endParaRPr>
          </a:p>
        </p:txBody>
      </p:sp>
      <p:sp>
        <p:nvSpPr>
          <p:cNvPr id="221" name="Google Shape;221;p6"/>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rPr lang="en-IN"/>
              <a:t>23-08-2026</a:t>
            </a:r>
            <a:endParaRPr/>
          </a:p>
        </p:txBody>
      </p:sp>
      <p:sp>
        <p:nvSpPr>
          <p:cNvPr id="222" name="Google Shape;222;p6"/>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IN"/>
              <a:t>‹#›</a:t>
            </a:fld>
            <a:endParaRPr/>
          </a:p>
        </p:txBody>
      </p:sp>
      <p:sp>
        <p:nvSpPr>
          <p:cNvPr id="223" name="Google Shape;223;p6"/>
          <p:cNvSpPr txBox="1"/>
          <p:nvPr/>
        </p:nvSpPr>
        <p:spPr>
          <a:xfrm>
            <a:off x="3454400" y="6211669"/>
            <a:ext cx="60960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mbria"/>
                <a:ea typeface="Cambria"/>
                <a:cs typeface="Cambria"/>
                <a:sym typeface="Cambria"/>
              </a:rPr>
              <a:t>DEPARTMENT OF COMPUTER ENGINEERING </a:t>
            </a:r>
            <a:endParaRPr b="0" i="0" sz="1400" u="none" cap="none" strike="noStrike">
              <a:solidFill>
                <a:srgbClr val="000000"/>
              </a:solidFill>
              <a:latin typeface="Cambria"/>
              <a:ea typeface="Cambria"/>
              <a:cs typeface="Cambria"/>
              <a:sym typeface="Cambria"/>
            </a:endParaRPr>
          </a:p>
          <a:p>
            <a:pPr indent="0" lvl="0" marL="0" marR="0" rtl="0" algn="ctr">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mbria"/>
                <a:ea typeface="Cambria"/>
                <a:cs typeface="Cambria"/>
                <a:sym typeface="Cambria"/>
              </a:rPr>
              <a:t>*Proprietary material of SILVER OAK UNIVERSITY</a:t>
            </a:r>
            <a:endParaRPr b="0" i="0" sz="1800" u="none" cap="none" strike="noStrike">
              <a:solidFill>
                <a:schemeClr val="dk1"/>
              </a:solidFill>
              <a:latin typeface="Cambria"/>
              <a:ea typeface="Cambria"/>
              <a:cs typeface="Cambria"/>
              <a:sym typeface="Cambr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IN">
                <a:latin typeface="Cambria"/>
                <a:ea typeface="Cambria"/>
                <a:cs typeface="Cambria"/>
                <a:sym typeface="Cambria"/>
              </a:rPr>
              <a:t>Objectives</a:t>
            </a:r>
            <a:endParaRPr>
              <a:latin typeface="Cambria"/>
              <a:ea typeface="Cambria"/>
              <a:cs typeface="Cambria"/>
              <a:sym typeface="Cambria"/>
            </a:endParaRPr>
          </a:p>
        </p:txBody>
      </p:sp>
      <p:sp>
        <p:nvSpPr>
          <p:cNvPr id="229" name="Google Shape;229;p7"/>
          <p:cNvSpPr txBox="1"/>
          <p:nvPr>
            <p:ph idx="1" type="body"/>
          </p:nvPr>
        </p:nvSpPr>
        <p:spPr>
          <a:xfrm>
            <a:off x="609600" y="1600201"/>
            <a:ext cx="10972800" cy="45261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IN" sz="2400">
                <a:latin typeface="Cambria"/>
                <a:ea typeface="Cambria"/>
                <a:cs typeface="Cambria"/>
                <a:sym typeface="Cambria"/>
              </a:rPr>
              <a:t>The main objectives of the project are:</a:t>
            </a:r>
            <a:endParaRPr sz="2400">
              <a:latin typeface="Cambria"/>
              <a:ea typeface="Cambria"/>
              <a:cs typeface="Cambria"/>
              <a:sym typeface="Cambria"/>
            </a:endParaRPr>
          </a:p>
          <a:p>
            <a:pPr indent="-381000" lvl="0" marL="457200" rtl="0" algn="l">
              <a:lnSpc>
                <a:spcPct val="115000"/>
              </a:lnSpc>
              <a:spcBef>
                <a:spcPts val="1200"/>
              </a:spcBef>
              <a:spcAft>
                <a:spcPts val="0"/>
              </a:spcAft>
              <a:buSzPts val="2400"/>
              <a:buFont typeface="Cambria"/>
              <a:buChar char="•"/>
            </a:pPr>
            <a:r>
              <a:rPr lang="en-IN" sz="2400">
                <a:latin typeface="Cambria"/>
                <a:ea typeface="Cambria"/>
                <a:cs typeface="Cambria"/>
                <a:sym typeface="Cambria"/>
              </a:rPr>
              <a:t>To monitor solar panel voltage, current, and temperature in real time.</a:t>
            </a:r>
            <a:endParaRPr sz="2400">
              <a:latin typeface="Cambria"/>
              <a:ea typeface="Cambria"/>
              <a:cs typeface="Cambria"/>
              <a:sym typeface="Cambria"/>
            </a:endParaRPr>
          </a:p>
          <a:p>
            <a:pPr indent="-381000" lvl="0" marL="457200" rtl="0" algn="l">
              <a:lnSpc>
                <a:spcPct val="115000"/>
              </a:lnSpc>
              <a:spcBef>
                <a:spcPts val="0"/>
              </a:spcBef>
              <a:spcAft>
                <a:spcPts val="0"/>
              </a:spcAft>
              <a:buSzPts val="2400"/>
              <a:buFont typeface="Cambria"/>
              <a:buChar char="•"/>
            </a:pPr>
            <a:r>
              <a:rPr lang="en-IN" sz="2400">
                <a:latin typeface="Cambria"/>
                <a:ea typeface="Cambria"/>
                <a:cs typeface="Cambria"/>
                <a:sym typeface="Cambria"/>
              </a:rPr>
              <a:t>To calculate power and energy generation.</a:t>
            </a:r>
            <a:endParaRPr sz="2400">
              <a:latin typeface="Cambria"/>
              <a:ea typeface="Cambria"/>
              <a:cs typeface="Cambria"/>
              <a:sym typeface="Cambria"/>
            </a:endParaRPr>
          </a:p>
          <a:p>
            <a:pPr indent="-381000" lvl="0" marL="457200" rtl="0" algn="l">
              <a:lnSpc>
                <a:spcPct val="115000"/>
              </a:lnSpc>
              <a:spcBef>
                <a:spcPts val="0"/>
              </a:spcBef>
              <a:spcAft>
                <a:spcPts val="0"/>
              </a:spcAft>
              <a:buSzPts val="2400"/>
              <a:buFont typeface="Cambria"/>
              <a:buChar char="•"/>
            </a:pPr>
            <a:r>
              <a:rPr lang="en-IN" sz="2400">
                <a:latin typeface="Cambria"/>
                <a:ea typeface="Cambria"/>
                <a:cs typeface="Cambria"/>
                <a:sym typeface="Cambria"/>
              </a:rPr>
              <a:t>To transmit sensor data using NodeMCU,ESP8266.</a:t>
            </a:r>
            <a:endParaRPr sz="2400">
              <a:latin typeface="Cambria"/>
              <a:ea typeface="Cambria"/>
              <a:cs typeface="Cambria"/>
              <a:sym typeface="Cambria"/>
            </a:endParaRPr>
          </a:p>
          <a:p>
            <a:pPr indent="-381000" lvl="0" marL="457200" rtl="0" algn="l">
              <a:lnSpc>
                <a:spcPct val="115000"/>
              </a:lnSpc>
              <a:spcBef>
                <a:spcPts val="0"/>
              </a:spcBef>
              <a:spcAft>
                <a:spcPts val="0"/>
              </a:spcAft>
              <a:buSzPts val="2400"/>
              <a:buFont typeface="Cambria"/>
              <a:buChar char="•"/>
            </a:pPr>
            <a:r>
              <a:rPr lang="en-IN" sz="2400">
                <a:latin typeface="Cambria"/>
                <a:ea typeface="Cambria"/>
                <a:cs typeface="Cambria"/>
                <a:sym typeface="Cambria"/>
              </a:rPr>
              <a:t>To store historical data in a database.</a:t>
            </a:r>
            <a:endParaRPr sz="2400">
              <a:latin typeface="Cambria"/>
              <a:ea typeface="Cambria"/>
              <a:cs typeface="Cambria"/>
              <a:sym typeface="Cambria"/>
            </a:endParaRPr>
          </a:p>
          <a:p>
            <a:pPr indent="-381000" lvl="0" marL="457200" rtl="0" algn="l">
              <a:lnSpc>
                <a:spcPct val="115000"/>
              </a:lnSpc>
              <a:spcBef>
                <a:spcPts val="0"/>
              </a:spcBef>
              <a:spcAft>
                <a:spcPts val="0"/>
              </a:spcAft>
              <a:buSzPts val="2400"/>
              <a:buFont typeface="Cambria"/>
              <a:buChar char="•"/>
            </a:pPr>
            <a:r>
              <a:rPr lang="en-IN" sz="2400">
                <a:latin typeface="Cambria"/>
                <a:ea typeface="Cambria"/>
                <a:cs typeface="Cambria"/>
                <a:sym typeface="Cambria"/>
              </a:rPr>
              <a:t>To develop a dashboard for visualization.</a:t>
            </a:r>
            <a:endParaRPr sz="2400">
              <a:latin typeface="Cambria"/>
              <a:ea typeface="Cambria"/>
              <a:cs typeface="Cambria"/>
              <a:sym typeface="Cambria"/>
            </a:endParaRPr>
          </a:p>
          <a:p>
            <a:pPr indent="-381000" lvl="0" marL="457200" rtl="0" algn="l">
              <a:lnSpc>
                <a:spcPct val="115000"/>
              </a:lnSpc>
              <a:spcBef>
                <a:spcPts val="0"/>
              </a:spcBef>
              <a:spcAft>
                <a:spcPts val="0"/>
              </a:spcAft>
              <a:buSzPts val="2400"/>
              <a:buFont typeface="Cambria"/>
              <a:buChar char="•"/>
            </a:pPr>
            <a:r>
              <a:rPr lang="en-IN" sz="2400">
                <a:latin typeface="Cambria"/>
                <a:ea typeface="Cambria"/>
                <a:cs typeface="Cambria"/>
                <a:sym typeface="Cambria"/>
              </a:rPr>
              <a:t>To identify abnormal performance conditions.</a:t>
            </a:r>
            <a:endParaRPr sz="2400">
              <a:latin typeface="Cambria"/>
              <a:ea typeface="Cambria"/>
              <a:cs typeface="Cambria"/>
              <a:sym typeface="Cambria"/>
            </a:endParaRPr>
          </a:p>
          <a:p>
            <a:pPr indent="-381000" lvl="0" marL="457200" rtl="0" algn="l">
              <a:lnSpc>
                <a:spcPct val="115000"/>
              </a:lnSpc>
              <a:spcBef>
                <a:spcPts val="0"/>
              </a:spcBef>
              <a:spcAft>
                <a:spcPts val="0"/>
              </a:spcAft>
              <a:buSzPts val="2400"/>
              <a:buFont typeface="Cambria"/>
              <a:buChar char="•"/>
            </a:pPr>
            <a:r>
              <a:rPr lang="en-IN" sz="2400">
                <a:latin typeface="Cambria"/>
                <a:ea typeface="Cambria"/>
                <a:cs typeface="Cambria"/>
                <a:sym typeface="Cambria"/>
              </a:rPr>
              <a:t>To provide maintenance recommendations.</a:t>
            </a:r>
            <a:endParaRPr sz="2400">
              <a:latin typeface="Cambria"/>
              <a:ea typeface="Cambria"/>
              <a:cs typeface="Cambria"/>
              <a:sym typeface="Cambria"/>
            </a:endParaRPr>
          </a:p>
          <a:p>
            <a:pPr indent="-381000" lvl="0" marL="457200" rtl="0" algn="l">
              <a:lnSpc>
                <a:spcPct val="115000"/>
              </a:lnSpc>
              <a:spcBef>
                <a:spcPts val="0"/>
              </a:spcBef>
              <a:spcAft>
                <a:spcPts val="0"/>
              </a:spcAft>
              <a:buSzPts val="2400"/>
              <a:buFont typeface="Cambria"/>
              <a:buChar char="•"/>
            </a:pPr>
            <a:r>
              <a:rPr lang="en-IN" sz="2400">
                <a:latin typeface="Cambria"/>
                <a:ea typeface="Cambria"/>
                <a:cs typeface="Cambria"/>
                <a:sym typeface="Cambria"/>
              </a:rPr>
              <a:t>To improve solar system reliability and efficiency.</a:t>
            </a:r>
            <a:endParaRPr sz="2400">
              <a:latin typeface="Cambria"/>
              <a:ea typeface="Cambria"/>
              <a:cs typeface="Cambria"/>
              <a:sym typeface="Cambria"/>
            </a:endParaRPr>
          </a:p>
        </p:txBody>
      </p:sp>
      <p:sp>
        <p:nvSpPr>
          <p:cNvPr id="230" name="Google Shape;230;p7"/>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rPr lang="en-IN"/>
              <a:t>23-08-2026</a:t>
            </a:r>
            <a:endParaRPr/>
          </a:p>
        </p:txBody>
      </p:sp>
      <p:sp>
        <p:nvSpPr>
          <p:cNvPr id="231" name="Google Shape;231;p7"/>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IN"/>
              <a:t>‹#›</a:t>
            </a:fld>
            <a:endParaRPr/>
          </a:p>
        </p:txBody>
      </p:sp>
      <p:sp>
        <p:nvSpPr>
          <p:cNvPr id="232" name="Google Shape;232;p7"/>
          <p:cNvSpPr txBox="1"/>
          <p:nvPr/>
        </p:nvSpPr>
        <p:spPr>
          <a:xfrm>
            <a:off x="3454400" y="6211669"/>
            <a:ext cx="60960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mbria"/>
                <a:ea typeface="Cambria"/>
                <a:cs typeface="Cambria"/>
                <a:sym typeface="Cambria"/>
              </a:rPr>
              <a:t>DEPARTMENT OF COMPUTER ENGINEERING </a:t>
            </a:r>
            <a:endParaRPr b="0" i="0" sz="1400" u="none" cap="none" strike="noStrike">
              <a:solidFill>
                <a:srgbClr val="000000"/>
              </a:solidFill>
              <a:latin typeface="Cambria"/>
              <a:ea typeface="Cambria"/>
              <a:cs typeface="Cambria"/>
              <a:sym typeface="Cambria"/>
            </a:endParaRPr>
          </a:p>
          <a:p>
            <a:pPr indent="0" lvl="0" marL="0" marR="0" rtl="0" algn="ctr">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mbria"/>
                <a:ea typeface="Cambria"/>
                <a:cs typeface="Cambria"/>
                <a:sym typeface="Cambria"/>
              </a:rPr>
              <a:t>*Proprietary material of SILVER OAK UNIVERSITY</a:t>
            </a:r>
            <a:endParaRPr b="0" i="0" sz="1800" u="none" cap="none" strike="noStrike">
              <a:solidFill>
                <a:schemeClr val="dk1"/>
              </a:solidFill>
              <a:latin typeface="Cambria"/>
              <a:ea typeface="Cambria"/>
              <a:cs typeface="Cambria"/>
              <a:sym typeface="Cambri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409ebd7067f_1_414"/>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42" name="Google Shape;242;g409ebd7067f_1_414"/>
          <p:cNvPicPr preferRelativeResize="0"/>
          <p:nvPr/>
        </p:nvPicPr>
        <p:blipFill rotWithShape="1">
          <a:blip r:embed="rId3">
            <a:alphaModFix/>
          </a:blip>
          <a:srcRect b="0" l="0" r="0" t="0"/>
          <a:stretch/>
        </p:blipFill>
        <p:spPr>
          <a:xfrm>
            <a:off x="9815703" y="0"/>
            <a:ext cx="2376300" cy="513900"/>
          </a:xfrm>
          <a:prstGeom prst="rect">
            <a:avLst/>
          </a:prstGeom>
          <a:noFill/>
          <a:ln>
            <a:noFill/>
          </a:ln>
        </p:spPr>
      </p:pic>
      <p:sp>
        <p:nvSpPr>
          <p:cNvPr id="243" name="Google Shape;243;g409ebd7067f_1_414"/>
          <p:cNvSpPr txBox="1"/>
          <p:nvPr/>
        </p:nvSpPr>
        <p:spPr>
          <a:xfrm>
            <a:off x="609600" y="238125"/>
            <a:ext cx="10972800" cy="571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4400"/>
              <a:buFont typeface="Calibri"/>
              <a:buNone/>
            </a:pPr>
            <a:r>
              <a:rPr lang="en-IN" sz="4400">
                <a:latin typeface="Cambria"/>
                <a:ea typeface="Cambria"/>
                <a:cs typeface="Cambria"/>
                <a:sym typeface="Cambria"/>
              </a:rPr>
              <a:t>Required Tools and Technology</a:t>
            </a:r>
            <a:endParaRPr sz="4400">
              <a:latin typeface="Cambria"/>
              <a:ea typeface="Cambria"/>
              <a:cs typeface="Cambria"/>
              <a:sym typeface="Cambria"/>
            </a:endParaRPr>
          </a:p>
          <a:p>
            <a:pPr indent="0" lvl="0" marL="0" rtl="0" algn="ctr">
              <a:spcBef>
                <a:spcPts val="0"/>
              </a:spcBef>
              <a:spcAft>
                <a:spcPts val="0"/>
              </a:spcAft>
              <a:buNone/>
            </a:pPr>
            <a:r>
              <a:t/>
            </a:r>
            <a:endParaRPr b="1" sz="4400">
              <a:solidFill>
                <a:srgbClr val="0F172A"/>
              </a:solidFill>
              <a:latin typeface="Cambria"/>
              <a:ea typeface="Cambria"/>
              <a:cs typeface="Cambria"/>
              <a:sym typeface="Cambria"/>
            </a:endParaRPr>
          </a:p>
        </p:txBody>
      </p:sp>
      <p:grpSp>
        <p:nvGrpSpPr>
          <p:cNvPr id="244" name="Google Shape;244;g409ebd7067f_1_414"/>
          <p:cNvGrpSpPr/>
          <p:nvPr/>
        </p:nvGrpSpPr>
        <p:grpSpPr>
          <a:xfrm>
            <a:off x="609600" y="1033463"/>
            <a:ext cx="3429000" cy="4953000"/>
            <a:chOff x="0" y="0"/>
            <a:chExt cx="3429000" cy="4953000"/>
          </a:xfrm>
        </p:grpSpPr>
        <p:sp>
          <p:nvSpPr>
            <p:cNvPr id="245" name="Google Shape;245;g409ebd7067f_1_414"/>
            <p:cNvSpPr/>
            <p:nvPr/>
          </p:nvSpPr>
          <p:spPr>
            <a:xfrm>
              <a:off x="0" y="0"/>
              <a:ext cx="3429000" cy="4953000"/>
            </a:xfrm>
            <a:prstGeom prst="roundRect">
              <a:avLst>
                <a:gd fmla="val 333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6" name="Google Shape;246;g409ebd7067f_1_414"/>
            <p:cNvSpPr/>
            <p:nvPr/>
          </p:nvSpPr>
          <p:spPr>
            <a:xfrm>
              <a:off x="0" y="0"/>
              <a:ext cx="3429000" cy="5730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7" name="Google Shape;247;g409ebd7067f_1_414"/>
            <p:cNvSpPr txBox="1"/>
            <p:nvPr/>
          </p:nvSpPr>
          <p:spPr>
            <a:xfrm>
              <a:off x="228600" y="228600"/>
              <a:ext cx="2971800" cy="4495800"/>
            </a:xfrm>
            <a:prstGeom prst="rect">
              <a:avLst/>
            </a:prstGeom>
            <a:noFill/>
            <a:ln>
              <a:noFill/>
            </a:ln>
          </p:spPr>
          <p:txBody>
            <a:bodyPr anchorCtr="0" anchor="t" bIns="76200" lIns="0" spcFirstLastPara="1" rIns="0" wrap="square" tIns="0">
              <a:noAutofit/>
            </a:bodyPr>
            <a:lstStyle/>
            <a:p>
              <a:pPr indent="0" lvl="0" marL="0" rtl="0" algn="l">
                <a:spcBef>
                  <a:spcPts val="0"/>
                </a:spcBef>
                <a:spcAft>
                  <a:spcPts val="0"/>
                </a:spcAft>
                <a:buNone/>
              </a:pPr>
              <a:r>
                <a:rPr b="1" lang="en-IN" sz="1600">
                  <a:solidFill>
                    <a:srgbClr val="1D4ED8"/>
                  </a:solidFill>
                  <a:latin typeface="Cambria"/>
                  <a:ea typeface="Cambria"/>
                  <a:cs typeface="Cambria"/>
                  <a:sym typeface="Cambria"/>
                </a:rPr>
                <a:t>Hardware Components</a:t>
              </a:r>
              <a:endParaRPr b="1" sz="1600">
                <a:solidFill>
                  <a:srgbClr val="1D4ED8"/>
                </a:solidFill>
                <a:latin typeface="Cambria"/>
                <a:ea typeface="Cambria"/>
                <a:cs typeface="Cambria"/>
                <a:sym typeface="Cambria"/>
              </a:endParaRPr>
            </a:p>
            <a:p>
              <a:pPr indent="0" lvl="0" marL="0" rtl="0" algn="l">
                <a:spcBef>
                  <a:spcPts val="900"/>
                </a:spcBef>
                <a:spcAft>
                  <a:spcPts val="0"/>
                </a:spcAft>
                <a:buNone/>
              </a:pPr>
              <a:r>
                <a:rPr b="1" lang="en-IN" sz="1100">
                  <a:solidFill>
                    <a:srgbClr val="334155"/>
                  </a:solidFill>
                  <a:latin typeface="Cambria"/>
                  <a:ea typeface="Cambria"/>
                  <a:cs typeface="Cambria"/>
                  <a:sym typeface="Cambria"/>
                </a:rPr>
                <a:t>NodeMCU ESP8266</a:t>
              </a:r>
              <a:endParaRPr b="1" sz="1100">
                <a:solidFill>
                  <a:srgbClr val="334155"/>
                </a:solidFill>
                <a:latin typeface="Cambria"/>
                <a:ea typeface="Cambria"/>
                <a:cs typeface="Cambria"/>
                <a:sym typeface="Cambria"/>
              </a:endParaRPr>
            </a:p>
            <a:p>
              <a:pPr indent="0" lvl="0" marL="0" rtl="0" algn="l">
                <a:spcBef>
                  <a:spcPts val="450"/>
                </a:spcBef>
                <a:spcAft>
                  <a:spcPts val="0"/>
                </a:spcAft>
                <a:buNone/>
              </a:pPr>
              <a:r>
                <a:rPr b="1" lang="en-IN" sz="1100">
                  <a:solidFill>
                    <a:srgbClr val="334155"/>
                  </a:solidFill>
                  <a:latin typeface="Cambria"/>
                  <a:ea typeface="Cambria"/>
                  <a:cs typeface="Cambria"/>
                  <a:sym typeface="Cambria"/>
                </a:rPr>
                <a:t>Solar Panel</a:t>
              </a:r>
              <a:endParaRPr b="1" sz="1100">
                <a:solidFill>
                  <a:srgbClr val="334155"/>
                </a:solidFill>
                <a:latin typeface="Cambria"/>
                <a:ea typeface="Cambria"/>
                <a:cs typeface="Cambria"/>
                <a:sym typeface="Cambria"/>
              </a:endParaRPr>
            </a:p>
            <a:p>
              <a:pPr indent="0" lvl="0" marL="0" rtl="0" algn="l">
                <a:spcBef>
                  <a:spcPts val="450"/>
                </a:spcBef>
                <a:spcAft>
                  <a:spcPts val="0"/>
                </a:spcAft>
                <a:buNone/>
              </a:pPr>
              <a:r>
                <a:rPr b="1" lang="en-IN" sz="1100">
                  <a:solidFill>
                    <a:srgbClr val="334155"/>
                  </a:solidFill>
                  <a:latin typeface="Cambria"/>
                  <a:ea typeface="Cambria"/>
                  <a:cs typeface="Cambria"/>
                  <a:sym typeface="Cambria"/>
                </a:rPr>
                <a:t>Voltage Sensor</a:t>
              </a:r>
              <a:endParaRPr b="1" sz="1100">
                <a:solidFill>
                  <a:srgbClr val="334155"/>
                </a:solidFill>
                <a:latin typeface="Cambria"/>
                <a:ea typeface="Cambria"/>
                <a:cs typeface="Cambria"/>
                <a:sym typeface="Cambria"/>
              </a:endParaRPr>
            </a:p>
            <a:p>
              <a:pPr indent="0" lvl="0" marL="0" rtl="0" algn="l">
                <a:spcBef>
                  <a:spcPts val="450"/>
                </a:spcBef>
                <a:spcAft>
                  <a:spcPts val="0"/>
                </a:spcAft>
                <a:buNone/>
              </a:pPr>
              <a:r>
                <a:rPr b="1" lang="en-IN" sz="1100">
                  <a:solidFill>
                    <a:srgbClr val="334155"/>
                  </a:solidFill>
                  <a:latin typeface="Cambria"/>
                  <a:ea typeface="Cambria"/>
                  <a:cs typeface="Cambria"/>
                  <a:sym typeface="Cambria"/>
                </a:rPr>
                <a:t>Current Sensor (INA219/ACS712)</a:t>
              </a:r>
              <a:endParaRPr b="1" sz="1100">
                <a:solidFill>
                  <a:srgbClr val="334155"/>
                </a:solidFill>
                <a:latin typeface="Cambria"/>
                <a:ea typeface="Cambria"/>
                <a:cs typeface="Cambria"/>
                <a:sym typeface="Cambria"/>
              </a:endParaRPr>
            </a:p>
            <a:p>
              <a:pPr indent="0" lvl="0" marL="0" rtl="0" algn="l">
                <a:spcBef>
                  <a:spcPts val="450"/>
                </a:spcBef>
                <a:spcAft>
                  <a:spcPts val="0"/>
                </a:spcAft>
                <a:buNone/>
              </a:pPr>
              <a:r>
                <a:rPr b="1" lang="en-IN" sz="1100">
                  <a:solidFill>
                    <a:srgbClr val="334155"/>
                  </a:solidFill>
                  <a:latin typeface="Cambria"/>
                  <a:ea typeface="Cambria"/>
                  <a:cs typeface="Cambria"/>
                  <a:sym typeface="Cambria"/>
                </a:rPr>
                <a:t>DS18B20 Temperature Sensor</a:t>
              </a:r>
              <a:endParaRPr b="1" sz="1100">
                <a:solidFill>
                  <a:srgbClr val="334155"/>
                </a:solidFill>
                <a:latin typeface="Cambria"/>
                <a:ea typeface="Cambria"/>
                <a:cs typeface="Cambria"/>
                <a:sym typeface="Cambria"/>
              </a:endParaRPr>
            </a:p>
            <a:p>
              <a:pPr indent="0" lvl="0" marL="0" rtl="0" algn="l">
                <a:spcBef>
                  <a:spcPts val="450"/>
                </a:spcBef>
                <a:spcAft>
                  <a:spcPts val="0"/>
                </a:spcAft>
                <a:buNone/>
              </a:pPr>
              <a:r>
                <a:rPr b="1" lang="en-IN" sz="1100">
                  <a:solidFill>
                    <a:srgbClr val="334155"/>
                  </a:solidFill>
                  <a:latin typeface="Cambria"/>
                  <a:ea typeface="Cambria"/>
                  <a:cs typeface="Cambria"/>
                  <a:sym typeface="Cambria"/>
                </a:rPr>
                <a:t>Breadboard</a:t>
              </a:r>
              <a:endParaRPr b="1" sz="1100">
                <a:solidFill>
                  <a:srgbClr val="334155"/>
                </a:solidFill>
                <a:latin typeface="Cambria"/>
                <a:ea typeface="Cambria"/>
                <a:cs typeface="Cambria"/>
                <a:sym typeface="Cambria"/>
              </a:endParaRPr>
            </a:p>
            <a:p>
              <a:pPr indent="0" lvl="0" marL="0" rtl="0" algn="l">
                <a:spcBef>
                  <a:spcPts val="450"/>
                </a:spcBef>
                <a:spcAft>
                  <a:spcPts val="0"/>
                </a:spcAft>
                <a:buNone/>
              </a:pPr>
              <a:r>
                <a:rPr b="1" lang="en-IN" sz="1100">
                  <a:solidFill>
                    <a:srgbClr val="334155"/>
                  </a:solidFill>
                  <a:latin typeface="Cambria"/>
                  <a:ea typeface="Cambria"/>
                  <a:cs typeface="Cambria"/>
                  <a:sym typeface="Cambria"/>
                </a:rPr>
                <a:t>Jumper Wires</a:t>
              </a:r>
              <a:endParaRPr b="1" sz="1100">
                <a:solidFill>
                  <a:srgbClr val="334155"/>
                </a:solidFill>
                <a:latin typeface="Cambria"/>
                <a:ea typeface="Cambria"/>
                <a:cs typeface="Cambria"/>
                <a:sym typeface="Cambria"/>
              </a:endParaRPr>
            </a:p>
            <a:p>
              <a:pPr indent="0" lvl="0" marL="0" rtl="0" algn="l">
                <a:spcBef>
                  <a:spcPts val="450"/>
                </a:spcBef>
                <a:spcAft>
                  <a:spcPts val="0"/>
                </a:spcAft>
                <a:buNone/>
              </a:pPr>
              <a:r>
                <a:rPr b="1" lang="en-IN" sz="1100">
                  <a:solidFill>
                    <a:srgbClr val="334155"/>
                  </a:solidFill>
                  <a:latin typeface="Cambria"/>
                  <a:ea typeface="Cambria"/>
                  <a:cs typeface="Cambria"/>
                  <a:sym typeface="Cambria"/>
                </a:rPr>
                <a:t>USB Cable</a:t>
              </a:r>
              <a:endParaRPr b="1" sz="1100">
                <a:solidFill>
                  <a:srgbClr val="334155"/>
                </a:solidFill>
                <a:latin typeface="Cambria"/>
                <a:ea typeface="Cambria"/>
                <a:cs typeface="Cambria"/>
                <a:sym typeface="Cambria"/>
              </a:endParaRPr>
            </a:p>
            <a:p>
              <a:pPr indent="0" lvl="0" marL="0" rtl="0" algn="l">
                <a:spcBef>
                  <a:spcPts val="450"/>
                </a:spcBef>
                <a:spcAft>
                  <a:spcPts val="450"/>
                </a:spcAft>
                <a:buNone/>
              </a:pPr>
              <a:r>
                <a:rPr b="1" lang="en-IN" sz="1100">
                  <a:solidFill>
                    <a:srgbClr val="334155"/>
                  </a:solidFill>
                  <a:latin typeface="Cambria"/>
                  <a:ea typeface="Cambria"/>
                  <a:cs typeface="Cambria"/>
                  <a:sym typeface="Cambria"/>
                </a:rPr>
                <a:t>OLED Display (Optional)</a:t>
              </a:r>
              <a:endParaRPr b="1" sz="1100">
                <a:solidFill>
                  <a:srgbClr val="334155"/>
                </a:solidFill>
                <a:latin typeface="Cambria"/>
                <a:ea typeface="Cambria"/>
                <a:cs typeface="Cambria"/>
                <a:sym typeface="Cambria"/>
              </a:endParaRPr>
            </a:p>
          </p:txBody>
        </p:sp>
      </p:grpSp>
      <p:grpSp>
        <p:nvGrpSpPr>
          <p:cNvPr id="248" name="Google Shape;248;g409ebd7067f_1_414"/>
          <p:cNvGrpSpPr/>
          <p:nvPr/>
        </p:nvGrpSpPr>
        <p:grpSpPr>
          <a:xfrm>
            <a:off x="4381500" y="1047750"/>
            <a:ext cx="3429000" cy="4953000"/>
            <a:chOff x="0" y="0"/>
            <a:chExt cx="3429000" cy="4953000"/>
          </a:xfrm>
        </p:grpSpPr>
        <p:sp>
          <p:nvSpPr>
            <p:cNvPr id="249" name="Google Shape;249;g409ebd7067f_1_414"/>
            <p:cNvSpPr/>
            <p:nvPr/>
          </p:nvSpPr>
          <p:spPr>
            <a:xfrm>
              <a:off x="0" y="0"/>
              <a:ext cx="3429000" cy="4953000"/>
            </a:xfrm>
            <a:prstGeom prst="roundRect">
              <a:avLst>
                <a:gd fmla="val 333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0" name="Google Shape;250;g409ebd7067f_1_414"/>
            <p:cNvSpPr/>
            <p:nvPr/>
          </p:nvSpPr>
          <p:spPr>
            <a:xfrm>
              <a:off x="0" y="0"/>
              <a:ext cx="3429000" cy="5730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1" name="Google Shape;251;g409ebd7067f_1_414"/>
            <p:cNvSpPr txBox="1"/>
            <p:nvPr/>
          </p:nvSpPr>
          <p:spPr>
            <a:xfrm>
              <a:off x="228600" y="228600"/>
              <a:ext cx="2971800" cy="4495800"/>
            </a:xfrm>
            <a:prstGeom prst="rect">
              <a:avLst/>
            </a:prstGeom>
            <a:noFill/>
            <a:ln>
              <a:noFill/>
            </a:ln>
          </p:spPr>
          <p:txBody>
            <a:bodyPr anchorCtr="0" anchor="t" bIns="76200" lIns="0" spcFirstLastPara="1" rIns="0" wrap="square" tIns="0">
              <a:noAutofit/>
            </a:bodyPr>
            <a:lstStyle/>
            <a:p>
              <a:pPr indent="0" lvl="0" marL="0" rtl="0" algn="l">
                <a:spcBef>
                  <a:spcPts val="0"/>
                </a:spcBef>
                <a:spcAft>
                  <a:spcPts val="0"/>
                </a:spcAft>
                <a:buNone/>
              </a:pPr>
              <a:r>
                <a:rPr b="1" lang="en-IN" sz="1600">
                  <a:solidFill>
                    <a:srgbClr val="047857"/>
                  </a:solidFill>
                  <a:latin typeface="Cambria"/>
                  <a:ea typeface="Cambria"/>
                  <a:cs typeface="Cambria"/>
                  <a:sym typeface="Cambria"/>
                </a:rPr>
                <a:t>Software &amp; Tools</a:t>
              </a:r>
              <a:endParaRPr b="1" sz="1600">
                <a:solidFill>
                  <a:srgbClr val="047857"/>
                </a:solidFill>
                <a:latin typeface="Cambria"/>
                <a:ea typeface="Cambria"/>
                <a:cs typeface="Cambria"/>
                <a:sym typeface="Cambria"/>
              </a:endParaRPr>
            </a:p>
            <a:p>
              <a:pPr indent="0" lvl="0" marL="0" rtl="0" algn="l">
                <a:spcBef>
                  <a:spcPts val="900"/>
                </a:spcBef>
                <a:spcAft>
                  <a:spcPts val="0"/>
                </a:spcAft>
                <a:buNone/>
              </a:pPr>
              <a:r>
                <a:rPr b="1" lang="en-IN" sz="1100">
                  <a:solidFill>
                    <a:srgbClr val="334155"/>
                  </a:solidFill>
                  <a:latin typeface="Cambria"/>
                  <a:ea typeface="Cambria"/>
                  <a:cs typeface="Cambria"/>
                  <a:sym typeface="Cambria"/>
                </a:rPr>
                <a:t>Arduino IDE</a:t>
              </a:r>
              <a:endParaRPr b="1" sz="1100">
                <a:solidFill>
                  <a:srgbClr val="334155"/>
                </a:solidFill>
                <a:latin typeface="Cambria"/>
                <a:ea typeface="Cambria"/>
                <a:cs typeface="Cambria"/>
                <a:sym typeface="Cambria"/>
              </a:endParaRPr>
            </a:p>
            <a:p>
              <a:pPr indent="0" lvl="0" marL="0" rtl="0" algn="l">
                <a:spcBef>
                  <a:spcPts val="450"/>
                </a:spcBef>
                <a:spcAft>
                  <a:spcPts val="0"/>
                </a:spcAft>
                <a:buNone/>
              </a:pPr>
              <a:r>
                <a:rPr b="1" lang="en-IN" sz="1100">
                  <a:solidFill>
                    <a:srgbClr val="334155"/>
                  </a:solidFill>
                  <a:latin typeface="Cambria"/>
                  <a:ea typeface="Cambria"/>
                  <a:cs typeface="Cambria"/>
                  <a:sym typeface="Cambria"/>
                </a:rPr>
                <a:t>Java</a:t>
              </a:r>
              <a:endParaRPr b="1" sz="1100">
                <a:solidFill>
                  <a:srgbClr val="334155"/>
                </a:solidFill>
                <a:latin typeface="Cambria"/>
                <a:ea typeface="Cambria"/>
                <a:cs typeface="Cambria"/>
                <a:sym typeface="Cambria"/>
              </a:endParaRPr>
            </a:p>
            <a:p>
              <a:pPr indent="0" lvl="0" marL="0" rtl="0" algn="l">
                <a:spcBef>
                  <a:spcPts val="450"/>
                </a:spcBef>
                <a:spcAft>
                  <a:spcPts val="0"/>
                </a:spcAft>
                <a:buNone/>
              </a:pPr>
              <a:r>
                <a:rPr b="1" lang="en-IN" sz="1100">
                  <a:solidFill>
                    <a:srgbClr val="334155"/>
                  </a:solidFill>
                  <a:latin typeface="Cambria"/>
                  <a:ea typeface="Cambria"/>
                  <a:cs typeface="Cambria"/>
                  <a:sym typeface="Cambria"/>
                </a:rPr>
                <a:t>Spring Boot</a:t>
              </a:r>
              <a:endParaRPr b="1" sz="1100">
                <a:solidFill>
                  <a:srgbClr val="334155"/>
                </a:solidFill>
                <a:latin typeface="Cambria"/>
                <a:ea typeface="Cambria"/>
                <a:cs typeface="Cambria"/>
                <a:sym typeface="Cambria"/>
              </a:endParaRPr>
            </a:p>
            <a:p>
              <a:pPr indent="0" lvl="0" marL="0" rtl="0" algn="l">
                <a:spcBef>
                  <a:spcPts val="450"/>
                </a:spcBef>
                <a:spcAft>
                  <a:spcPts val="0"/>
                </a:spcAft>
                <a:buNone/>
              </a:pPr>
              <a:r>
                <a:rPr b="1" lang="en-IN" sz="1100">
                  <a:solidFill>
                    <a:srgbClr val="334155"/>
                  </a:solidFill>
                  <a:latin typeface="Cambria"/>
                  <a:ea typeface="Cambria"/>
                  <a:cs typeface="Cambria"/>
                  <a:sym typeface="Cambria"/>
                </a:rPr>
                <a:t>MySQL</a:t>
              </a:r>
              <a:endParaRPr b="1" sz="1100">
                <a:solidFill>
                  <a:srgbClr val="334155"/>
                </a:solidFill>
                <a:latin typeface="Cambria"/>
                <a:ea typeface="Cambria"/>
                <a:cs typeface="Cambria"/>
                <a:sym typeface="Cambria"/>
              </a:endParaRPr>
            </a:p>
            <a:p>
              <a:pPr indent="0" lvl="0" marL="0" rtl="0" algn="l">
                <a:spcBef>
                  <a:spcPts val="450"/>
                </a:spcBef>
                <a:spcAft>
                  <a:spcPts val="0"/>
                </a:spcAft>
                <a:buNone/>
              </a:pPr>
              <a:r>
                <a:rPr b="1" lang="en-IN" sz="1100">
                  <a:solidFill>
                    <a:srgbClr val="334155"/>
                  </a:solidFill>
                  <a:latin typeface="Cambria"/>
                  <a:ea typeface="Cambria"/>
                  <a:cs typeface="Cambria"/>
                  <a:sym typeface="Cambria"/>
                </a:rPr>
                <a:t>HTML</a:t>
              </a:r>
              <a:endParaRPr b="1" sz="1100">
                <a:solidFill>
                  <a:srgbClr val="334155"/>
                </a:solidFill>
                <a:latin typeface="Cambria"/>
                <a:ea typeface="Cambria"/>
                <a:cs typeface="Cambria"/>
                <a:sym typeface="Cambria"/>
              </a:endParaRPr>
            </a:p>
            <a:p>
              <a:pPr indent="0" lvl="0" marL="0" rtl="0" algn="l">
                <a:spcBef>
                  <a:spcPts val="450"/>
                </a:spcBef>
                <a:spcAft>
                  <a:spcPts val="0"/>
                </a:spcAft>
                <a:buNone/>
              </a:pPr>
              <a:r>
                <a:rPr b="1" lang="en-IN" sz="1100">
                  <a:solidFill>
                    <a:srgbClr val="334155"/>
                  </a:solidFill>
                  <a:latin typeface="Cambria"/>
                  <a:ea typeface="Cambria"/>
                  <a:cs typeface="Cambria"/>
                  <a:sym typeface="Cambria"/>
                </a:rPr>
                <a:t>CSS</a:t>
              </a:r>
              <a:endParaRPr b="1" sz="1100">
                <a:solidFill>
                  <a:srgbClr val="334155"/>
                </a:solidFill>
                <a:latin typeface="Cambria"/>
                <a:ea typeface="Cambria"/>
                <a:cs typeface="Cambria"/>
                <a:sym typeface="Cambria"/>
              </a:endParaRPr>
            </a:p>
            <a:p>
              <a:pPr indent="0" lvl="0" marL="0" rtl="0" algn="l">
                <a:spcBef>
                  <a:spcPts val="450"/>
                </a:spcBef>
                <a:spcAft>
                  <a:spcPts val="450"/>
                </a:spcAft>
                <a:buNone/>
              </a:pPr>
              <a:r>
                <a:rPr b="1" lang="en-IN" sz="1100">
                  <a:solidFill>
                    <a:srgbClr val="334155"/>
                  </a:solidFill>
                  <a:latin typeface="Cambria"/>
                  <a:ea typeface="Cambria"/>
                  <a:cs typeface="Cambria"/>
                  <a:sym typeface="Cambria"/>
                </a:rPr>
                <a:t>JavaScript</a:t>
              </a:r>
              <a:endParaRPr b="1" sz="1100">
                <a:solidFill>
                  <a:srgbClr val="334155"/>
                </a:solidFill>
                <a:latin typeface="Cambria"/>
                <a:ea typeface="Cambria"/>
                <a:cs typeface="Cambria"/>
                <a:sym typeface="Cambria"/>
              </a:endParaRPr>
            </a:p>
          </p:txBody>
        </p:sp>
      </p:grpSp>
      <p:grpSp>
        <p:nvGrpSpPr>
          <p:cNvPr id="252" name="Google Shape;252;g409ebd7067f_1_414"/>
          <p:cNvGrpSpPr/>
          <p:nvPr/>
        </p:nvGrpSpPr>
        <p:grpSpPr>
          <a:xfrm>
            <a:off x="8153400" y="1047750"/>
            <a:ext cx="3429000" cy="4953000"/>
            <a:chOff x="0" y="0"/>
            <a:chExt cx="3429000" cy="4953000"/>
          </a:xfrm>
        </p:grpSpPr>
        <p:sp>
          <p:nvSpPr>
            <p:cNvPr id="253" name="Google Shape;253;g409ebd7067f_1_414"/>
            <p:cNvSpPr/>
            <p:nvPr/>
          </p:nvSpPr>
          <p:spPr>
            <a:xfrm>
              <a:off x="0" y="0"/>
              <a:ext cx="3429000" cy="4953000"/>
            </a:xfrm>
            <a:prstGeom prst="roundRect">
              <a:avLst>
                <a:gd fmla="val 333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4" name="Google Shape;254;g409ebd7067f_1_414"/>
            <p:cNvSpPr/>
            <p:nvPr/>
          </p:nvSpPr>
          <p:spPr>
            <a:xfrm>
              <a:off x="0" y="0"/>
              <a:ext cx="3429000" cy="5730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5" name="Google Shape;255;g409ebd7067f_1_414"/>
            <p:cNvSpPr txBox="1"/>
            <p:nvPr/>
          </p:nvSpPr>
          <p:spPr>
            <a:xfrm>
              <a:off x="228600" y="228600"/>
              <a:ext cx="2971800" cy="4495800"/>
            </a:xfrm>
            <a:prstGeom prst="rect">
              <a:avLst/>
            </a:prstGeom>
            <a:noFill/>
            <a:ln>
              <a:noFill/>
            </a:ln>
          </p:spPr>
          <p:txBody>
            <a:bodyPr anchorCtr="0" anchor="t" bIns="76200" lIns="0" spcFirstLastPara="1" rIns="0" wrap="square" tIns="0">
              <a:noAutofit/>
            </a:bodyPr>
            <a:lstStyle/>
            <a:p>
              <a:pPr indent="0" lvl="0" marL="0" rtl="0" algn="l">
                <a:spcBef>
                  <a:spcPts val="0"/>
                </a:spcBef>
                <a:spcAft>
                  <a:spcPts val="0"/>
                </a:spcAft>
                <a:buNone/>
              </a:pPr>
              <a:r>
                <a:rPr b="1" lang="en-IN" sz="1600">
                  <a:solidFill>
                    <a:srgbClr val="6D28D9"/>
                  </a:solidFill>
                  <a:latin typeface="Cambria"/>
                  <a:ea typeface="Cambria"/>
                  <a:cs typeface="Cambria"/>
                  <a:sym typeface="Cambria"/>
                </a:rPr>
                <a:t>Key Technologies</a:t>
              </a:r>
              <a:endParaRPr b="1" sz="1600">
                <a:solidFill>
                  <a:srgbClr val="6D28D9"/>
                </a:solidFill>
                <a:latin typeface="Cambria"/>
                <a:ea typeface="Cambria"/>
                <a:cs typeface="Cambria"/>
                <a:sym typeface="Cambria"/>
              </a:endParaRPr>
            </a:p>
            <a:p>
              <a:pPr indent="0" lvl="0" marL="0" rtl="0" algn="l">
                <a:spcBef>
                  <a:spcPts val="900"/>
                </a:spcBef>
                <a:spcAft>
                  <a:spcPts val="0"/>
                </a:spcAft>
                <a:buNone/>
              </a:pPr>
              <a:r>
                <a:rPr b="1" lang="en-IN" sz="1100">
                  <a:solidFill>
                    <a:srgbClr val="334155"/>
                  </a:solidFill>
                  <a:latin typeface="Cambria"/>
                  <a:ea typeface="Cambria"/>
                  <a:cs typeface="Cambria"/>
                  <a:sym typeface="Cambria"/>
                </a:rPr>
                <a:t>Internet of Things (IoT)</a:t>
              </a:r>
              <a:endParaRPr b="1" sz="1100">
                <a:solidFill>
                  <a:srgbClr val="334155"/>
                </a:solidFill>
                <a:latin typeface="Cambria"/>
                <a:ea typeface="Cambria"/>
                <a:cs typeface="Cambria"/>
                <a:sym typeface="Cambria"/>
              </a:endParaRPr>
            </a:p>
            <a:p>
              <a:pPr indent="0" lvl="0" marL="0" rtl="0" algn="l">
                <a:spcBef>
                  <a:spcPts val="450"/>
                </a:spcBef>
                <a:spcAft>
                  <a:spcPts val="0"/>
                </a:spcAft>
                <a:buNone/>
              </a:pPr>
              <a:r>
                <a:rPr b="1" lang="en-IN" sz="1100">
                  <a:solidFill>
                    <a:srgbClr val="334155"/>
                  </a:solidFill>
                  <a:latin typeface="Cambria"/>
                  <a:ea typeface="Cambria"/>
                  <a:cs typeface="Cambria"/>
                  <a:sym typeface="Cambria"/>
                </a:rPr>
                <a:t>REST API</a:t>
              </a:r>
              <a:endParaRPr b="1" sz="1100">
                <a:solidFill>
                  <a:srgbClr val="334155"/>
                </a:solidFill>
                <a:latin typeface="Cambria"/>
                <a:ea typeface="Cambria"/>
                <a:cs typeface="Cambria"/>
                <a:sym typeface="Cambria"/>
              </a:endParaRPr>
            </a:p>
            <a:p>
              <a:pPr indent="0" lvl="0" marL="0" rtl="0" algn="l">
                <a:spcBef>
                  <a:spcPts val="450"/>
                </a:spcBef>
                <a:spcAft>
                  <a:spcPts val="0"/>
                </a:spcAft>
                <a:buNone/>
              </a:pPr>
              <a:r>
                <a:rPr b="1" lang="en-IN" sz="1100">
                  <a:solidFill>
                    <a:srgbClr val="334155"/>
                  </a:solidFill>
                  <a:latin typeface="Cambria"/>
                  <a:ea typeface="Cambria"/>
                  <a:cs typeface="Cambria"/>
                  <a:sym typeface="Cambria"/>
                </a:rPr>
                <a:t>Database Management</a:t>
              </a:r>
              <a:endParaRPr b="1" sz="1100">
                <a:solidFill>
                  <a:srgbClr val="334155"/>
                </a:solidFill>
                <a:latin typeface="Cambria"/>
                <a:ea typeface="Cambria"/>
                <a:cs typeface="Cambria"/>
                <a:sym typeface="Cambria"/>
              </a:endParaRPr>
            </a:p>
            <a:p>
              <a:pPr indent="0" lvl="0" marL="0" rtl="0" algn="l">
                <a:spcBef>
                  <a:spcPts val="450"/>
                </a:spcBef>
                <a:spcAft>
                  <a:spcPts val="0"/>
                </a:spcAft>
                <a:buNone/>
              </a:pPr>
              <a:r>
                <a:rPr b="1" lang="en-IN" sz="1100">
                  <a:solidFill>
                    <a:srgbClr val="334155"/>
                  </a:solidFill>
                  <a:latin typeface="Cambria"/>
                  <a:ea typeface="Cambria"/>
                  <a:cs typeface="Cambria"/>
                  <a:sym typeface="Cambria"/>
                </a:rPr>
                <a:t>Data Analytics</a:t>
              </a:r>
              <a:endParaRPr b="1" sz="1100">
                <a:solidFill>
                  <a:srgbClr val="334155"/>
                </a:solidFill>
                <a:latin typeface="Cambria"/>
                <a:ea typeface="Cambria"/>
                <a:cs typeface="Cambria"/>
                <a:sym typeface="Cambria"/>
              </a:endParaRPr>
            </a:p>
            <a:p>
              <a:pPr indent="0" lvl="0" marL="0" rtl="0" algn="l">
                <a:spcBef>
                  <a:spcPts val="450"/>
                </a:spcBef>
                <a:spcAft>
                  <a:spcPts val="450"/>
                </a:spcAft>
                <a:buNone/>
              </a:pPr>
              <a:r>
                <a:rPr b="1" lang="en-IN" sz="1100">
                  <a:solidFill>
                    <a:srgbClr val="334155"/>
                  </a:solidFill>
                  <a:latin typeface="Cambria"/>
                  <a:ea typeface="Cambria"/>
                  <a:cs typeface="Cambria"/>
                  <a:sym typeface="Cambria"/>
                </a:rPr>
                <a:t>Web Dashboard Development</a:t>
              </a:r>
              <a:endParaRPr b="1" sz="1100">
                <a:solidFill>
                  <a:srgbClr val="334155"/>
                </a:solidFill>
                <a:latin typeface="Cambria"/>
                <a:ea typeface="Cambria"/>
                <a:cs typeface="Cambria"/>
                <a:sym typeface="Cambria"/>
              </a:endParaRPr>
            </a:p>
          </p:txBody>
        </p:sp>
      </p:grpSp>
      <p:sp>
        <p:nvSpPr>
          <p:cNvPr id="256" name="Google Shape;256;g409ebd7067f_1_414"/>
          <p:cNvSpPr txBox="1"/>
          <p:nvPr/>
        </p:nvSpPr>
        <p:spPr>
          <a:xfrm>
            <a:off x="609600" y="6334125"/>
            <a:ext cx="1905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400"/>
              <a:buFont typeface="Arial"/>
              <a:buNone/>
            </a:pPr>
            <a:r>
              <a:rPr lang="en-IN" sz="1200">
                <a:solidFill>
                  <a:srgbClr val="888888"/>
                </a:solidFill>
                <a:latin typeface="Calibri"/>
                <a:ea typeface="Calibri"/>
                <a:cs typeface="Calibri"/>
                <a:sym typeface="Calibri"/>
              </a:rPr>
              <a:t>23-08-2026</a:t>
            </a:r>
            <a:endParaRPr sz="1200">
              <a:solidFill>
                <a:srgbClr val="888888"/>
              </a:solidFill>
              <a:latin typeface="Calibri"/>
              <a:ea typeface="Calibri"/>
              <a:cs typeface="Calibri"/>
              <a:sym typeface="Calibri"/>
            </a:endParaRPr>
          </a:p>
          <a:p>
            <a:pPr indent="0" lvl="0" marL="0" rtl="0" algn="l">
              <a:spcBef>
                <a:spcPts val="0"/>
              </a:spcBef>
              <a:spcAft>
                <a:spcPts val="0"/>
              </a:spcAft>
              <a:buNone/>
            </a:pPr>
            <a:r>
              <a:t/>
            </a:r>
            <a:endParaRPr sz="1200">
              <a:solidFill>
                <a:srgbClr val="64748B"/>
              </a:solidFill>
              <a:latin typeface="Calibri"/>
              <a:ea typeface="Calibri"/>
              <a:cs typeface="Calibri"/>
              <a:sym typeface="Calibri"/>
            </a:endParaRPr>
          </a:p>
        </p:txBody>
      </p:sp>
      <p:sp>
        <p:nvSpPr>
          <p:cNvPr id="257" name="Google Shape;257;g409ebd7067f_1_414"/>
          <p:cNvSpPr txBox="1"/>
          <p:nvPr/>
        </p:nvSpPr>
        <p:spPr>
          <a:xfrm>
            <a:off x="3048000" y="6210300"/>
            <a:ext cx="6096000" cy="476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t/>
            </a:r>
            <a:endParaRPr b="1">
              <a:solidFill>
                <a:srgbClr val="1E293B"/>
              </a:solidFill>
              <a:latin typeface="Cambria"/>
              <a:ea typeface="Cambria"/>
              <a:cs typeface="Cambria"/>
              <a:sym typeface="Cambria"/>
            </a:endParaRPr>
          </a:p>
        </p:txBody>
      </p:sp>
      <p:sp>
        <p:nvSpPr>
          <p:cNvPr id="258" name="Google Shape;258;g409ebd7067f_1_414"/>
          <p:cNvSpPr txBox="1"/>
          <p:nvPr/>
        </p:nvSpPr>
        <p:spPr>
          <a:xfrm>
            <a:off x="3454400" y="6211669"/>
            <a:ext cx="60960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mbria"/>
                <a:ea typeface="Cambria"/>
                <a:cs typeface="Cambria"/>
                <a:sym typeface="Cambria"/>
              </a:rPr>
              <a:t>DEPARTMENT OF COMPUTER ENGINEERING </a:t>
            </a:r>
            <a:endParaRPr b="0" i="0" sz="1400" u="none" cap="none" strike="noStrike">
              <a:solidFill>
                <a:srgbClr val="000000"/>
              </a:solidFill>
              <a:latin typeface="Cambria"/>
              <a:ea typeface="Cambria"/>
              <a:cs typeface="Cambria"/>
              <a:sym typeface="Cambria"/>
            </a:endParaRPr>
          </a:p>
          <a:p>
            <a:pPr indent="0" lvl="0" marL="0" marR="0" rtl="0" algn="ctr">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mbria"/>
                <a:ea typeface="Cambria"/>
                <a:cs typeface="Cambria"/>
                <a:sym typeface="Cambria"/>
              </a:rPr>
              <a:t>*Proprietary material of SILVER OAK UNIVERSITY</a:t>
            </a:r>
            <a:endParaRPr b="0" i="0" sz="1800" u="none" cap="none" strike="noStrike">
              <a:solidFill>
                <a:schemeClr val="dk1"/>
              </a:solidFill>
              <a:latin typeface="Cambria"/>
              <a:ea typeface="Cambria"/>
              <a:cs typeface="Cambria"/>
              <a:sym typeface="Cambria"/>
            </a:endParaRPr>
          </a:p>
        </p:txBody>
      </p:sp>
      <p:sp>
        <p:nvSpPr>
          <p:cNvPr id="259" name="Google Shape;259;g409ebd7067f_1_414"/>
          <p:cNvSpPr txBox="1"/>
          <p:nvPr>
            <p:ph idx="4294967295"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I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9"/>
          <p:cNvSpPr txBox="1"/>
          <p:nvPr>
            <p:ph type="title"/>
          </p:nvPr>
        </p:nvSpPr>
        <p:spPr>
          <a:xfrm>
            <a:off x="619125" y="191813"/>
            <a:ext cx="109728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IN">
                <a:latin typeface="Cambria"/>
                <a:ea typeface="Cambria"/>
                <a:cs typeface="Cambria"/>
                <a:sym typeface="Cambria"/>
              </a:rPr>
              <a:t>Method/ Approach</a:t>
            </a:r>
            <a:endParaRPr>
              <a:latin typeface="Cambria"/>
              <a:ea typeface="Cambria"/>
              <a:cs typeface="Cambria"/>
              <a:sym typeface="Cambria"/>
            </a:endParaRPr>
          </a:p>
        </p:txBody>
      </p:sp>
      <p:sp>
        <p:nvSpPr>
          <p:cNvPr id="265" name="Google Shape;265;p9"/>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rPr lang="en-IN"/>
              <a:t>23-08-2026</a:t>
            </a:r>
            <a:endParaRPr/>
          </a:p>
        </p:txBody>
      </p:sp>
      <p:sp>
        <p:nvSpPr>
          <p:cNvPr id="266" name="Google Shape;266;p9"/>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IN"/>
              <a:t>‹#›</a:t>
            </a:fld>
            <a:endParaRPr/>
          </a:p>
        </p:txBody>
      </p:sp>
      <p:sp>
        <p:nvSpPr>
          <p:cNvPr id="267" name="Google Shape;267;p9"/>
          <p:cNvSpPr txBox="1"/>
          <p:nvPr/>
        </p:nvSpPr>
        <p:spPr>
          <a:xfrm>
            <a:off x="3454400" y="6211669"/>
            <a:ext cx="60960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IN" sz="1800" u="none" cap="none" strike="noStrike">
                <a:solidFill>
                  <a:schemeClr val="dk1"/>
                </a:solidFill>
                <a:latin typeface="Cambria"/>
                <a:ea typeface="Cambria"/>
                <a:cs typeface="Cambria"/>
                <a:sym typeface="Cambria"/>
              </a:rPr>
              <a:t>DEPARTMENT OF COMPUTER ENGINEERING </a:t>
            </a:r>
            <a:endParaRPr b="0" i="0" sz="1400" u="none" cap="none" strike="noStrike">
              <a:solidFill>
                <a:schemeClr val="dk1"/>
              </a:solidFill>
              <a:latin typeface="Cambria"/>
              <a:ea typeface="Cambria"/>
              <a:cs typeface="Cambria"/>
              <a:sym typeface="Cambria"/>
            </a:endParaRPr>
          </a:p>
          <a:p>
            <a:pPr indent="0" lvl="0" marL="0" marR="0" rtl="0" algn="ctr">
              <a:lnSpc>
                <a:spcPct val="100000"/>
              </a:lnSpc>
              <a:spcBef>
                <a:spcPts val="0"/>
              </a:spcBef>
              <a:spcAft>
                <a:spcPts val="0"/>
              </a:spcAft>
              <a:buClr>
                <a:schemeClr val="dk1"/>
              </a:buClr>
              <a:buSzPts val="1800"/>
              <a:buFont typeface="Arial"/>
              <a:buNone/>
            </a:pPr>
            <a:r>
              <a:rPr b="0" i="0" lang="en-IN" sz="1800" u="none" cap="none" strike="noStrike">
                <a:solidFill>
                  <a:schemeClr val="dk1"/>
                </a:solidFill>
                <a:latin typeface="Cambria"/>
                <a:ea typeface="Cambria"/>
                <a:cs typeface="Cambria"/>
                <a:sym typeface="Cambria"/>
              </a:rPr>
              <a:t>*Proprietary material of SILVER OAK UNIVERSITY</a:t>
            </a:r>
            <a:endParaRPr b="0" i="0" sz="1800" u="none" cap="none" strike="noStrike">
              <a:solidFill>
                <a:schemeClr val="dk1"/>
              </a:solidFill>
              <a:latin typeface="Calibri"/>
              <a:ea typeface="Calibri"/>
              <a:cs typeface="Calibri"/>
              <a:sym typeface="Calibri"/>
            </a:endParaRPr>
          </a:p>
        </p:txBody>
      </p:sp>
      <p:grpSp>
        <p:nvGrpSpPr>
          <p:cNvPr id="268" name="Google Shape;268;p9"/>
          <p:cNvGrpSpPr/>
          <p:nvPr/>
        </p:nvGrpSpPr>
        <p:grpSpPr>
          <a:xfrm>
            <a:off x="600075" y="2126700"/>
            <a:ext cx="2590800" cy="1495500"/>
            <a:chOff x="-9525" y="-9525"/>
            <a:chExt cx="2590800" cy="1495500"/>
          </a:xfrm>
        </p:grpSpPr>
        <p:pic>
          <p:nvPicPr>
            <p:cNvPr id="269" name="Google Shape;269;p9"/>
            <p:cNvPicPr preferRelativeResize="0"/>
            <p:nvPr/>
          </p:nvPicPr>
          <p:blipFill rotWithShape="1">
            <a:blip r:embed="rId3">
              <a:alphaModFix/>
            </a:blip>
            <a:srcRect b="0" l="0" r="0" t="0"/>
            <a:stretch/>
          </p:blipFill>
          <p:spPr>
            <a:xfrm>
              <a:off x="-9525" y="-9525"/>
              <a:ext cx="2590800" cy="1495500"/>
            </a:xfrm>
            <a:prstGeom prst="rect">
              <a:avLst/>
            </a:prstGeom>
            <a:noFill/>
            <a:ln>
              <a:noFill/>
            </a:ln>
          </p:spPr>
        </p:pic>
        <p:sp>
          <p:nvSpPr>
            <p:cNvPr id="270" name="Google Shape;270;p9"/>
            <p:cNvSpPr txBox="1"/>
            <p:nvPr/>
          </p:nvSpPr>
          <p:spPr>
            <a:xfrm>
              <a:off x="114300" y="114300"/>
              <a:ext cx="2343300" cy="12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IN" sz="1100">
                  <a:solidFill>
                    <a:srgbClr val="2563EB"/>
                  </a:solidFill>
                  <a:latin typeface="Cambria"/>
                  <a:ea typeface="Cambria"/>
                  <a:cs typeface="Cambria"/>
                  <a:sym typeface="Cambria"/>
                </a:rPr>
                <a:t>STEP 1</a:t>
              </a:r>
              <a:endParaRPr b="1" sz="1100">
                <a:solidFill>
                  <a:srgbClr val="2563EB"/>
                </a:solidFill>
                <a:latin typeface="Cambria"/>
                <a:ea typeface="Cambria"/>
                <a:cs typeface="Cambria"/>
                <a:sym typeface="Cambria"/>
              </a:endParaRPr>
            </a:p>
            <a:p>
              <a:pPr indent="0" lvl="0" marL="0" rtl="0" algn="l">
                <a:spcBef>
                  <a:spcPts val="0"/>
                </a:spcBef>
                <a:spcAft>
                  <a:spcPts val="0"/>
                </a:spcAft>
                <a:buNone/>
              </a:pPr>
              <a:r>
                <a:rPr b="1" lang="en-IN" sz="1300">
                  <a:solidFill>
                    <a:srgbClr val="1E293B"/>
                  </a:solidFill>
                  <a:latin typeface="Cambria"/>
                  <a:ea typeface="Cambria"/>
                  <a:cs typeface="Cambria"/>
                  <a:sym typeface="Cambria"/>
                </a:rPr>
                <a:t>Data Collection</a:t>
              </a:r>
              <a:endParaRPr b="1" sz="1300">
                <a:solidFill>
                  <a:srgbClr val="1E293B"/>
                </a:solidFill>
                <a:latin typeface="Cambria"/>
                <a:ea typeface="Cambria"/>
                <a:cs typeface="Cambria"/>
                <a:sym typeface="Cambria"/>
              </a:endParaRPr>
            </a:p>
            <a:p>
              <a:pPr indent="0" lvl="0" marL="0" rtl="0" algn="l">
                <a:spcBef>
                  <a:spcPts val="225"/>
                </a:spcBef>
                <a:spcAft>
                  <a:spcPts val="0"/>
                </a:spcAft>
                <a:buNone/>
              </a:pPr>
              <a:r>
                <a:rPr b="0" lang="en-IN" sz="1050">
                  <a:solidFill>
                    <a:srgbClr val="475569"/>
                  </a:solidFill>
                  <a:latin typeface="Cambria"/>
                  <a:ea typeface="Cambria"/>
                  <a:cs typeface="Cambria"/>
                  <a:sym typeface="Cambria"/>
                </a:rPr>
                <a:t>Sensors collect key solar panel system metrics:</a:t>
              </a:r>
              <a:endParaRPr b="0" sz="1050">
                <a:solidFill>
                  <a:srgbClr val="475569"/>
                </a:solidFill>
                <a:latin typeface="Cambria"/>
                <a:ea typeface="Cambria"/>
                <a:cs typeface="Cambria"/>
                <a:sym typeface="Cambria"/>
              </a:endParaRPr>
            </a:p>
            <a:p>
              <a:pPr indent="-295275" lvl="0" marL="457200" rtl="0" algn="l">
                <a:spcBef>
                  <a:spcPts val="0"/>
                </a:spcBef>
                <a:spcAft>
                  <a:spcPts val="0"/>
                </a:spcAft>
                <a:buClr>
                  <a:srgbClr val="475569"/>
                </a:buClr>
                <a:buSzPts val="1050"/>
                <a:buFont typeface="Cambria"/>
                <a:buChar char="●"/>
              </a:pPr>
              <a:r>
                <a:rPr b="0" lang="en-IN" sz="1050">
                  <a:solidFill>
                    <a:srgbClr val="475569"/>
                  </a:solidFill>
                  <a:latin typeface="Cambria"/>
                  <a:ea typeface="Cambria"/>
                  <a:cs typeface="Cambria"/>
                  <a:sym typeface="Cambria"/>
                </a:rPr>
                <a:t>Voltage</a:t>
              </a:r>
              <a:endParaRPr b="0" sz="1050">
                <a:solidFill>
                  <a:srgbClr val="475569"/>
                </a:solidFill>
                <a:latin typeface="Cambria"/>
                <a:ea typeface="Cambria"/>
                <a:cs typeface="Cambria"/>
                <a:sym typeface="Cambria"/>
              </a:endParaRPr>
            </a:p>
            <a:p>
              <a:pPr indent="-295275" lvl="0" marL="457200" rtl="0" algn="l">
                <a:spcBef>
                  <a:spcPts val="75"/>
                </a:spcBef>
                <a:spcAft>
                  <a:spcPts val="0"/>
                </a:spcAft>
                <a:buClr>
                  <a:srgbClr val="475569"/>
                </a:buClr>
                <a:buSzPts val="1050"/>
                <a:buFont typeface="Cambria"/>
                <a:buChar char="●"/>
              </a:pPr>
              <a:r>
                <a:rPr b="0" lang="en-IN" sz="1050">
                  <a:solidFill>
                    <a:srgbClr val="475569"/>
                  </a:solidFill>
                  <a:latin typeface="Cambria"/>
                  <a:ea typeface="Cambria"/>
                  <a:cs typeface="Cambria"/>
                  <a:sym typeface="Cambria"/>
                </a:rPr>
                <a:t>Current</a:t>
              </a:r>
              <a:endParaRPr b="0" sz="1050">
                <a:solidFill>
                  <a:srgbClr val="475569"/>
                </a:solidFill>
                <a:latin typeface="Cambria"/>
                <a:ea typeface="Cambria"/>
                <a:cs typeface="Cambria"/>
                <a:sym typeface="Cambria"/>
              </a:endParaRPr>
            </a:p>
            <a:p>
              <a:pPr indent="-295275" lvl="0" marL="457200" rtl="0" algn="l">
                <a:spcBef>
                  <a:spcPts val="75"/>
                </a:spcBef>
                <a:spcAft>
                  <a:spcPts val="75"/>
                </a:spcAft>
                <a:buClr>
                  <a:srgbClr val="475569"/>
                </a:buClr>
                <a:buSzPts val="1050"/>
                <a:buFont typeface="Cambria"/>
                <a:buChar char="●"/>
              </a:pPr>
              <a:r>
                <a:rPr b="0" lang="en-IN" sz="1050">
                  <a:solidFill>
                    <a:srgbClr val="475569"/>
                  </a:solidFill>
                  <a:latin typeface="Cambria"/>
                  <a:ea typeface="Cambria"/>
                  <a:cs typeface="Cambria"/>
                  <a:sym typeface="Cambria"/>
                </a:rPr>
                <a:t>Temperature</a:t>
              </a:r>
              <a:endParaRPr b="0" sz="1050">
                <a:solidFill>
                  <a:srgbClr val="475569"/>
                </a:solidFill>
                <a:latin typeface="Cambria"/>
                <a:ea typeface="Cambria"/>
                <a:cs typeface="Cambria"/>
                <a:sym typeface="Cambria"/>
              </a:endParaRPr>
            </a:p>
          </p:txBody>
        </p:sp>
      </p:grpSp>
      <p:grpSp>
        <p:nvGrpSpPr>
          <p:cNvPr id="271" name="Google Shape;271;p9"/>
          <p:cNvGrpSpPr/>
          <p:nvPr/>
        </p:nvGrpSpPr>
        <p:grpSpPr>
          <a:xfrm>
            <a:off x="3400425" y="2126700"/>
            <a:ext cx="2590800" cy="1495500"/>
            <a:chOff x="-9525" y="-9525"/>
            <a:chExt cx="2590800" cy="1495500"/>
          </a:xfrm>
        </p:grpSpPr>
        <p:pic>
          <p:nvPicPr>
            <p:cNvPr id="272" name="Google Shape;272;p9"/>
            <p:cNvPicPr preferRelativeResize="0"/>
            <p:nvPr/>
          </p:nvPicPr>
          <p:blipFill rotWithShape="1">
            <a:blip r:embed="rId3">
              <a:alphaModFix/>
            </a:blip>
            <a:srcRect b="0" l="0" r="0" t="0"/>
            <a:stretch/>
          </p:blipFill>
          <p:spPr>
            <a:xfrm>
              <a:off x="-9525" y="-9525"/>
              <a:ext cx="2590800" cy="1495500"/>
            </a:xfrm>
            <a:prstGeom prst="rect">
              <a:avLst/>
            </a:prstGeom>
            <a:noFill/>
            <a:ln>
              <a:noFill/>
            </a:ln>
          </p:spPr>
        </p:pic>
        <p:sp>
          <p:nvSpPr>
            <p:cNvPr id="273" name="Google Shape;273;p9"/>
            <p:cNvSpPr txBox="1"/>
            <p:nvPr/>
          </p:nvSpPr>
          <p:spPr>
            <a:xfrm>
              <a:off x="114300" y="114300"/>
              <a:ext cx="2343300" cy="12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IN" sz="1100">
                  <a:solidFill>
                    <a:srgbClr val="2563EB"/>
                  </a:solidFill>
                  <a:latin typeface="Cambria"/>
                  <a:ea typeface="Cambria"/>
                  <a:cs typeface="Cambria"/>
                  <a:sym typeface="Cambria"/>
                </a:rPr>
                <a:t>STEP 2</a:t>
              </a:r>
              <a:endParaRPr b="1" sz="1100">
                <a:solidFill>
                  <a:srgbClr val="2563EB"/>
                </a:solidFill>
                <a:latin typeface="Cambria"/>
                <a:ea typeface="Cambria"/>
                <a:cs typeface="Cambria"/>
                <a:sym typeface="Cambria"/>
              </a:endParaRPr>
            </a:p>
            <a:p>
              <a:pPr indent="0" lvl="0" marL="0" rtl="0" algn="l">
                <a:spcBef>
                  <a:spcPts val="0"/>
                </a:spcBef>
                <a:spcAft>
                  <a:spcPts val="0"/>
                </a:spcAft>
                <a:buNone/>
              </a:pPr>
              <a:r>
                <a:rPr b="1" lang="en-IN" sz="1300">
                  <a:solidFill>
                    <a:srgbClr val="1E293B"/>
                  </a:solidFill>
                  <a:latin typeface="Cambria"/>
                  <a:ea typeface="Cambria"/>
                  <a:cs typeface="Cambria"/>
                  <a:sym typeface="Cambria"/>
                </a:rPr>
                <a:t>Data Processing</a:t>
              </a:r>
              <a:endParaRPr b="1" sz="1300">
                <a:solidFill>
                  <a:srgbClr val="1E293B"/>
                </a:solidFill>
                <a:latin typeface="Cambria"/>
                <a:ea typeface="Cambria"/>
                <a:cs typeface="Cambria"/>
                <a:sym typeface="Cambria"/>
              </a:endParaRPr>
            </a:p>
            <a:p>
              <a:pPr indent="0" lvl="0" marL="0" rtl="0" algn="l">
                <a:spcBef>
                  <a:spcPts val="225"/>
                </a:spcBef>
                <a:spcAft>
                  <a:spcPts val="0"/>
                </a:spcAft>
                <a:buNone/>
              </a:pPr>
              <a:r>
                <a:rPr b="0" lang="en-IN" sz="1050">
                  <a:solidFill>
                    <a:srgbClr val="475569"/>
                  </a:solidFill>
                  <a:latin typeface="Cambria"/>
                  <a:ea typeface="Cambria"/>
                  <a:cs typeface="Cambria"/>
                  <a:sym typeface="Cambria"/>
                </a:rPr>
                <a:t>NodeMCU ESP8266 reads sensor values and calculates:</a:t>
              </a:r>
              <a:endParaRPr b="0" sz="1050">
                <a:solidFill>
                  <a:srgbClr val="475569"/>
                </a:solidFill>
                <a:latin typeface="Cambria"/>
                <a:ea typeface="Cambria"/>
                <a:cs typeface="Cambria"/>
                <a:sym typeface="Cambria"/>
              </a:endParaRPr>
            </a:p>
            <a:p>
              <a:pPr indent="0" lvl="0" marL="0" rtl="0" algn="ctr">
                <a:spcBef>
                  <a:spcPts val="300"/>
                </a:spcBef>
                <a:spcAft>
                  <a:spcPts val="0"/>
                </a:spcAft>
                <a:buNone/>
              </a:pPr>
              <a:r>
                <a:rPr b="1" lang="en-IN" sz="1050">
                  <a:solidFill>
                    <a:srgbClr val="1E293B"/>
                  </a:solidFill>
                  <a:highlight>
                    <a:srgbClr val="EFF6FF"/>
                  </a:highlight>
                  <a:latin typeface="Cambria"/>
                  <a:ea typeface="Cambria"/>
                  <a:cs typeface="Cambria"/>
                  <a:sym typeface="Cambria"/>
                </a:rPr>
                <a:t>Power = Voltage × Current</a:t>
              </a:r>
              <a:endParaRPr b="1" sz="1050">
                <a:solidFill>
                  <a:srgbClr val="1E293B"/>
                </a:solidFill>
                <a:highlight>
                  <a:srgbClr val="EFF6FF"/>
                </a:highlight>
                <a:latin typeface="Cambria"/>
                <a:ea typeface="Cambria"/>
                <a:cs typeface="Cambria"/>
                <a:sym typeface="Cambria"/>
              </a:endParaRPr>
            </a:p>
          </p:txBody>
        </p:sp>
      </p:grpSp>
      <p:grpSp>
        <p:nvGrpSpPr>
          <p:cNvPr id="274" name="Google Shape;274;p9"/>
          <p:cNvGrpSpPr/>
          <p:nvPr/>
        </p:nvGrpSpPr>
        <p:grpSpPr>
          <a:xfrm>
            <a:off x="6200775" y="2126700"/>
            <a:ext cx="2590800" cy="1495500"/>
            <a:chOff x="-9525" y="-9525"/>
            <a:chExt cx="2590800" cy="1495500"/>
          </a:xfrm>
        </p:grpSpPr>
        <p:pic>
          <p:nvPicPr>
            <p:cNvPr id="275" name="Google Shape;275;p9"/>
            <p:cNvPicPr preferRelativeResize="0"/>
            <p:nvPr/>
          </p:nvPicPr>
          <p:blipFill rotWithShape="1">
            <a:blip r:embed="rId3">
              <a:alphaModFix/>
            </a:blip>
            <a:srcRect b="0" l="0" r="0" t="0"/>
            <a:stretch/>
          </p:blipFill>
          <p:spPr>
            <a:xfrm>
              <a:off x="-9525" y="-9525"/>
              <a:ext cx="2590800" cy="1495500"/>
            </a:xfrm>
            <a:prstGeom prst="rect">
              <a:avLst/>
            </a:prstGeom>
            <a:noFill/>
            <a:ln>
              <a:noFill/>
            </a:ln>
          </p:spPr>
        </p:pic>
        <p:sp>
          <p:nvSpPr>
            <p:cNvPr id="276" name="Google Shape;276;p9"/>
            <p:cNvSpPr txBox="1"/>
            <p:nvPr/>
          </p:nvSpPr>
          <p:spPr>
            <a:xfrm>
              <a:off x="114300" y="114300"/>
              <a:ext cx="2343300" cy="12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IN" sz="1100">
                  <a:solidFill>
                    <a:srgbClr val="2563EB"/>
                  </a:solidFill>
                  <a:latin typeface="Cambria"/>
                  <a:ea typeface="Cambria"/>
                  <a:cs typeface="Cambria"/>
                  <a:sym typeface="Cambria"/>
                </a:rPr>
                <a:t>STEP 3</a:t>
              </a:r>
              <a:endParaRPr b="1" sz="1100">
                <a:solidFill>
                  <a:srgbClr val="2563EB"/>
                </a:solidFill>
                <a:latin typeface="Cambria"/>
                <a:ea typeface="Cambria"/>
                <a:cs typeface="Cambria"/>
                <a:sym typeface="Cambria"/>
              </a:endParaRPr>
            </a:p>
            <a:p>
              <a:pPr indent="0" lvl="0" marL="0" rtl="0" algn="l">
                <a:spcBef>
                  <a:spcPts val="0"/>
                </a:spcBef>
                <a:spcAft>
                  <a:spcPts val="0"/>
                </a:spcAft>
                <a:buNone/>
              </a:pPr>
              <a:r>
                <a:rPr b="1" lang="en-IN" sz="1300">
                  <a:solidFill>
                    <a:srgbClr val="1E293B"/>
                  </a:solidFill>
                  <a:latin typeface="Cambria"/>
                  <a:ea typeface="Cambria"/>
                  <a:cs typeface="Cambria"/>
                  <a:sym typeface="Cambria"/>
                </a:rPr>
                <a:t>Data Transmission</a:t>
              </a:r>
              <a:endParaRPr b="1" sz="1300">
                <a:solidFill>
                  <a:srgbClr val="1E293B"/>
                </a:solidFill>
                <a:latin typeface="Cambria"/>
                <a:ea typeface="Cambria"/>
                <a:cs typeface="Cambria"/>
                <a:sym typeface="Cambria"/>
              </a:endParaRPr>
            </a:p>
            <a:p>
              <a:pPr indent="0" lvl="0" marL="0" rtl="0" algn="l">
                <a:spcBef>
                  <a:spcPts val="225"/>
                </a:spcBef>
                <a:spcAft>
                  <a:spcPts val="0"/>
                </a:spcAft>
                <a:buNone/>
              </a:pPr>
              <a:r>
                <a:rPr b="0" lang="en-IN" sz="1050">
                  <a:solidFill>
                    <a:srgbClr val="475569"/>
                  </a:solidFill>
                  <a:latin typeface="Cambria"/>
                  <a:ea typeface="Cambria"/>
                  <a:cs typeface="Cambria"/>
                  <a:sym typeface="Cambria"/>
                </a:rPr>
                <a:t>Sensor readings are transmitted through Wi-Fi using IoT communication.</a:t>
              </a:r>
              <a:endParaRPr b="0" sz="1050">
                <a:solidFill>
                  <a:srgbClr val="475569"/>
                </a:solidFill>
                <a:latin typeface="Cambria"/>
                <a:ea typeface="Cambria"/>
                <a:cs typeface="Cambria"/>
                <a:sym typeface="Cambria"/>
              </a:endParaRPr>
            </a:p>
          </p:txBody>
        </p:sp>
      </p:grpSp>
      <p:grpSp>
        <p:nvGrpSpPr>
          <p:cNvPr id="277" name="Google Shape;277;p9"/>
          <p:cNvGrpSpPr/>
          <p:nvPr/>
        </p:nvGrpSpPr>
        <p:grpSpPr>
          <a:xfrm>
            <a:off x="9001125" y="2126700"/>
            <a:ext cx="2590800" cy="1495500"/>
            <a:chOff x="-9525" y="-9525"/>
            <a:chExt cx="2590800" cy="1495500"/>
          </a:xfrm>
        </p:grpSpPr>
        <p:pic>
          <p:nvPicPr>
            <p:cNvPr id="278" name="Google Shape;278;p9"/>
            <p:cNvPicPr preferRelativeResize="0"/>
            <p:nvPr/>
          </p:nvPicPr>
          <p:blipFill rotWithShape="1">
            <a:blip r:embed="rId3">
              <a:alphaModFix/>
            </a:blip>
            <a:srcRect b="0" l="0" r="0" t="0"/>
            <a:stretch/>
          </p:blipFill>
          <p:spPr>
            <a:xfrm>
              <a:off x="-9525" y="-9525"/>
              <a:ext cx="2590800" cy="1495500"/>
            </a:xfrm>
            <a:prstGeom prst="rect">
              <a:avLst/>
            </a:prstGeom>
            <a:noFill/>
            <a:ln>
              <a:noFill/>
            </a:ln>
          </p:spPr>
        </p:pic>
        <p:sp>
          <p:nvSpPr>
            <p:cNvPr id="279" name="Google Shape;279;p9"/>
            <p:cNvSpPr txBox="1"/>
            <p:nvPr/>
          </p:nvSpPr>
          <p:spPr>
            <a:xfrm>
              <a:off x="114300" y="114300"/>
              <a:ext cx="2343300" cy="12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IN" sz="1000">
                  <a:solidFill>
                    <a:srgbClr val="2563EB"/>
                  </a:solidFill>
                  <a:latin typeface="Cambria"/>
                  <a:ea typeface="Cambria"/>
                  <a:cs typeface="Cambria"/>
                  <a:sym typeface="Cambria"/>
                </a:rPr>
                <a:t>STEP 4</a:t>
              </a:r>
              <a:endParaRPr b="1" sz="1000">
                <a:solidFill>
                  <a:srgbClr val="2563EB"/>
                </a:solidFill>
                <a:latin typeface="Cambria"/>
                <a:ea typeface="Cambria"/>
                <a:cs typeface="Cambria"/>
                <a:sym typeface="Cambria"/>
              </a:endParaRPr>
            </a:p>
            <a:p>
              <a:pPr indent="0" lvl="0" marL="0" rtl="0" algn="l">
                <a:spcBef>
                  <a:spcPts val="0"/>
                </a:spcBef>
                <a:spcAft>
                  <a:spcPts val="0"/>
                </a:spcAft>
                <a:buNone/>
              </a:pPr>
              <a:r>
                <a:rPr b="1" lang="en-IN" sz="1200">
                  <a:solidFill>
                    <a:srgbClr val="1E293B"/>
                  </a:solidFill>
                  <a:latin typeface="Cambria"/>
                  <a:ea typeface="Cambria"/>
                  <a:cs typeface="Cambria"/>
                  <a:sym typeface="Cambria"/>
                </a:rPr>
                <a:t>Backend Processing</a:t>
              </a:r>
              <a:endParaRPr b="1" sz="1200">
                <a:solidFill>
                  <a:srgbClr val="1E293B"/>
                </a:solidFill>
                <a:latin typeface="Cambria"/>
                <a:ea typeface="Cambria"/>
                <a:cs typeface="Cambria"/>
                <a:sym typeface="Cambria"/>
              </a:endParaRPr>
            </a:p>
            <a:p>
              <a:pPr indent="0" lvl="0" marL="0" rtl="0" algn="l">
                <a:spcBef>
                  <a:spcPts val="225"/>
                </a:spcBef>
                <a:spcAft>
                  <a:spcPts val="0"/>
                </a:spcAft>
                <a:buNone/>
              </a:pPr>
              <a:r>
                <a:rPr b="0" lang="en-IN" sz="950">
                  <a:solidFill>
                    <a:srgbClr val="475569"/>
                  </a:solidFill>
                  <a:latin typeface="Cambria"/>
                  <a:ea typeface="Cambria"/>
                  <a:cs typeface="Cambria"/>
                  <a:sym typeface="Cambria"/>
                </a:rPr>
                <a:t>A Java Spring Boot application receives the incoming data through REST APIs.</a:t>
              </a:r>
              <a:endParaRPr b="0" sz="950">
                <a:solidFill>
                  <a:srgbClr val="475569"/>
                </a:solidFill>
                <a:latin typeface="Cambria"/>
                <a:ea typeface="Cambria"/>
                <a:cs typeface="Cambria"/>
                <a:sym typeface="Cambria"/>
              </a:endParaRPr>
            </a:p>
          </p:txBody>
        </p:sp>
      </p:grpSp>
      <p:grpSp>
        <p:nvGrpSpPr>
          <p:cNvPr id="280" name="Google Shape;280;p9"/>
          <p:cNvGrpSpPr/>
          <p:nvPr/>
        </p:nvGrpSpPr>
        <p:grpSpPr>
          <a:xfrm>
            <a:off x="600075" y="3745950"/>
            <a:ext cx="2590800" cy="1590600"/>
            <a:chOff x="-9525" y="-9525"/>
            <a:chExt cx="2590800" cy="1590600"/>
          </a:xfrm>
        </p:grpSpPr>
        <p:pic>
          <p:nvPicPr>
            <p:cNvPr id="281" name="Google Shape;281;p9"/>
            <p:cNvPicPr preferRelativeResize="0"/>
            <p:nvPr/>
          </p:nvPicPr>
          <p:blipFill rotWithShape="1">
            <a:blip r:embed="rId4">
              <a:alphaModFix/>
            </a:blip>
            <a:srcRect b="0" l="0" r="0" t="0"/>
            <a:stretch/>
          </p:blipFill>
          <p:spPr>
            <a:xfrm>
              <a:off x="-9525" y="-9525"/>
              <a:ext cx="2590800" cy="1590600"/>
            </a:xfrm>
            <a:prstGeom prst="rect">
              <a:avLst/>
            </a:prstGeom>
            <a:noFill/>
            <a:ln>
              <a:noFill/>
            </a:ln>
          </p:spPr>
        </p:pic>
        <p:sp>
          <p:nvSpPr>
            <p:cNvPr id="282" name="Google Shape;282;p9"/>
            <p:cNvSpPr txBox="1"/>
            <p:nvPr/>
          </p:nvSpPr>
          <p:spPr>
            <a:xfrm>
              <a:off x="114300" y="114300"/>
              <a:ext cx="2343300" cy="1343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IN" sz="1100">
                  <a:solidFill>
                    <a:srgbClr val="2563EB"/>
                  </a:solidFill>
                  <a:latin typeface="Cambria"/>
                  <a:ea typeface="Cambria"/>
                  <a:cs typeface="Cambria"/>
                  <a:sym typeface="Cambria"/>
                </a:rPr>
                <a:t>STEP 5</a:t>
              </a:r>
              <a:endParaRPr b="1" sz="1100">
                <a:solidFill>
                  <a:srgbClr val="2563EB"/>
                </a:solidFill>
                <a:latin typeface="Cambria"/>
                <a:ea typeface="Cambria"/>
                <a:cs typeface="Cambria"/>
                <a:sym typeface="Cambria"/>
              </a:endParaRPr>
            </a:p>
            <a:p>
              <a:pPr indent="0" lvl="0" marL="0" rtl="0" algn="l">
                <a:spcBef>
                  <a:spcPts val="0"/>
                </a:spcBef>
                <a:spcAft>
                  <a:spcPts val="0"/>
                </a:spcAft>
                <a:buNone/>
              </a:pPr>
              <a:r>
                <a:rPr b="1" lang="en-IN" sz="1300">
                  <a:solidFill>
                    <a:srgbClr val="1E293B"/>
                  </a:solidFill>
                  <a:latin typeface="Cambria"/>
                  <a:ea typeface="Cambria"/>
                  <a:cs typeface="Cambria"/>
                  <a:sym typeface="Cambria"/>
                </a:rPr>
                <a:t>Data Storage</a:t>
              </a:r>
              <a:endParaRPr b="1" sz="1300">
                <a:solidFill>
                  <a:srgbClr val="1E293B"/>
                </a:solidFill>
                <a:latin typeface="Cambria"/>
                <a:ea typeface="Cambria"/>
                <a:cs typeface="Cambria"/>
                <a:sym typeface="Cambria"/>
              </a:endParaRPr>
            </a:p>
            <a:p>
              <a:pPr indent="0" lvl="0" marL="0" rtl="0" algn="l">
                <a:spcBef>
                  <a:spcPts val="225"/>
                </a:spcBef>
                <a:spcAft>
                  <a:spcPts val="0"/>
                </a:spcAft>
                <a:buNone/>
              </a:pPr>
              <a:r>
                <a:rPr b="0" lang="en-IN" sz="1050">
                  <a:solidFill>
                    <a:srgbClr val="475569"/>
                  </a:solidFill>
                  <a:latin typeface="Cambria"/>
                  <a:ea typeface="Cambria"/>
                  <a:cs typeface="Cambria"/>
                  <a:sym typeface="Cambria"/>
                </a:rPr>
                <a:t>The received data is stored in a MySQL database for future analysis.</a:t>
              </a:r>
              <a:endParaRPr b="0" sz="1050">
                <a:solidFill>
                  <a:srgbClr val="475569"/>
                </a:solidFill>
                <a:latin typeface="Cambria"/>
                <a:ea typeface="Cambria"/>
                <a:cs typeface="Cambria"/>
                <a:sym typeface="Cambria"/>
              </a:endParaRPr>
            </a:p>
          </p:txBody>
        </p:sp>
      </p:grpSp>
      <p:grpSp>
        <p:nvGrpSpPr>
          <p:cNvPr id="283" name="Google Shape;283;p9"/>
          <p:cNvGrpSpPr/>
          <p:nvPr/>
        </p:nvGrpSpPr>
        <p:grpSpPr>
          <a:xfrm>
            <a:off x="3400425" y="3745950"/>
            <a:ext cx="2590800" cy="1590600"/>
            <a:chOff x="-9525" y="-9525"/>
            <a:chExt cx="2590800" cy="1590600"/>
          </a:xfrm>
        </p:grpSpPr>
        <p:pic>
          <p:nvPicPr>
            <p:cNvPr id="284" name="Google Shape;284;p9"/>
            <p:cNvPicPr preferRelativeResize="0"/>
            <p:nvPr/>
          </p:nvPicPr>
          <p:blipFill rotWithShape="1">
            <a:blip r:embed="rId4">
              <a:alphaModFix/>
            </a:blip>
            <a:srcRect b="0" l="0" r="0" t="0"/>
            <a:stretch/>
          </p:blipFill>
          <p:spPr>
            <a:xfrm>
              <a:off x="-9525" y="-9525"/>
              <a:ext cx="2590800" cy="1590600"/>
            </a:xfrm>
            <a:prstGeom prst="rect">
              <a:avLst/>
            </a:prstGeom>
            <a:noFill/>
            <a:ln>
              <a:noFill/>
            </a:ln>
          </p:spPr>
        </p:pic>
        <p:sp>
          <p:nvSpPr>
            <p:cNvPr id="285" name="Google Shape;285;p9"/>
            <p:cNvSpPr txBox="1"/>
            <p:nvPr/>
          </p:nvSpPr>
          <p:spPr>
            <a:xfrm>
              <a:off x="114300" y="114300"/>
              <a:ext cx="2343300" cy="1343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IN" sz="1100">
                  <a:solidFill>
                    <a:srgbClr val="2563EB"/>
                  </a:solidFill>
                  <a:latin typeface="Cambria"/>
                  <a:ea typeface="Cambria"/>
                  <a:cs typeface="Cambria"/>
                  <a:sym typeface="Cambria"/>
                </a:rPr>
                <a:t>STEP 6</a:t>
              </a:r>
              <a:endParaRPr b="1" sz="1100">
                <a:solidFill>
                  <a:srgbClr val="2563EB"/>
                </a:solidFill>
                <a:latin typeface="Cambria"/>
                <a:ea typeface="Cambria"/>
                <a:cs typeface="Cambria"/>
                <a:sym typeface="Cambria"/>
              </a:endParaRPr>
            </a:p>
            <a:p>
              <a:pPr indent="0" lvl="0" marL="0" rtl="0" algn="l">
                <a:spcBef>
                  <a:spcPts val="0"/>
                </a:spcBef>
                <a:spcAft>
                  <a:spcPts val="0"/>
                </a:spcAft>
                <a:buNone/>
              </a:pPr>
              <a:r>
                <a:rPr b="1" lang="en-IN" sz="1300">
                  <a:solidFill>
                    <a:srgbClr val="1E293B"/>
                  </a:solidFill>
                  <a:latin typeface="Cambria"/>
                  <a:ea typeface="Cambria"/>
                  <a:cs typeface="Cambria"/>
                  <a:sym typeface="Cambria"/>
                </a:rPr>
                <a:t>Dashboard Visualization</a:t>
              </a:r>
              <a:endParaRPr b="1" sz="1300">
                <a:solidFill>
                  <a:srgbClr val="1E293B"/>
                </a:solidFill>
                <a:latin typeface="Cambria"/>
                <a:ea typeface="Cambria"/>
                <a:cs typeface="Cambria"/>
                <a:sym typeface="Cambria"/>
              </a:endParaRPr>
            </a:p>
            <a:p>
              <a:pPr indent="0" lvl="0" marL="0" rtl="0" algn="l">
                <a:spcBef>
                  <a:spcPts val="225"/>
                </a:spcBef>
                <a:spcAft>
                  <a:spcPts val="0"/>
                </a:spcAft>
                <a:buNone/>
              </a:pPr>
              <a:r>
                <a:rPr b="0" lang="en-IN" sz="1050">
                  <a:solidFill>
                    <a:srgbClr val="475569"/>
                  </a:solidFill>
                  <a:latin typeface="Cambria"/>
                  <a:ea typeface="Cambria"/>
                  <a:cs typeface="Cambria"/>
                  <a:sym typeface="Cambria"/>
                </a:rPr>
                <a:t>Users can view via web dashboard:</a:t>
              </a:r>
              <a:endParaRPr b="0" sz="1050">
                <a:solidFill>
                  <a:srgbClr val="475569"/>
                </a:solidFill>
                <a:latin typeface="Cambria"/>
                <a:ea typeface="Cambria"/>
                <a:cs typeface="Cambria"/>
                <a:sym typeface="Cambria"/>
              </a:endParaRPr>
            </a:p>
            <a:p>
              <a:pPr indent="-295275" lvl="0" marL="457200" rtl="0" algn="l">
                <a:spcBef>
                  <a:spcPts val="0"/>
                </a:spcBef>
                <a:spcAft>
                  <a:spcPts val="0"/>
                </a:spcAft>
                <a:buClr>
                  <a:srgbClr val="475569"/>
                </a:buClr>
                <a:buSzPts val="1050"/>
                <a:buFont typeface="Cambria"/>
                <a:buChar char="●"/>
              </a:pPr>
              <a:r>
                <a:rPr b="0" lang="en-IN" sz="1050">
                  <a:solidFill>
                    <a:srgbClr val="475569"/>
                  </a:solidFill>
                  <a:latin typeface="Cambria"/>
                  <a:ea typeface="Cambria"/>
                  <a:cs typeface="Cambria"/>
                  <a:sym typeface="Cambria"/>
                </a:rPr>
                <a:t>Live readings</a:t>
              </a:r>
              <a:endParaRPr b="0" sz="1050">
                <a:solidFill>
                  <a:srgbClr val="475569"/>
                </a:solidFill>
                <a:latin typeface="Cambria"/>
                <a:ea typeface="Cambria"/>
                <a:cs typeface="Cambria"/>
                <a:sym typeface="Cambria"/>
              </a:endParaRPr>
            </a:p>
            <a:p>
              <a:pPr indent="-295275" lvl="0" marL="457200" rtl="0" algn="l">
                <a:spcBef>
                  <a:spcPts val="75"/>
                </a:spcBef>
                <a:spcAft>
                  <a:spcPts val="0"/>
                </a:spcAft>
                <a:buClr>
                  <a:srgbClr val="475569"/>
                </a:buClr>
                <a:buSzPts val="1050"/>
                <a:buFont typeface="Cambria"/>
                <a:buChar char="●"/>
              </a:pPr>
              <a:r>
                <a:rPr b="0" lang="en-IN" sz="1050">
                  <a:solidFill>
                    <a:srgbClr val="475569"/>
                  </a:solidFill>
                  <a:latin typeface="Cambria"/>
                  <a:ea typeface="Cambria"/>
                  <a:cs typeface="Cambria"/>
                  <a:sym typeface="Cambria"/>
                </a:rPr>
                <a:t>Historical graphs</a:t>
              </a:r>
              <a:endParaRPr b="0" sz="1050">
                <a:solidFill>
                  <a:srgbClr val="475569"/>
                </a:solidFill>
                <a:latin typeface="Cambria"/>
                <a:ea typeface="Cambria"/>
                <a:cs typeface="Cambria"/>
                <a:sym typeface="Cambria"/>
              </a:endParaRPr>
            </a:p>
            <a:p>
              <a:pPr indent="-295275" lvl="0" marL="457200" rtl="0" algn="l">
                <a:spcBef>
                  <a:spcPts val="75"/>
                </a:spcBef>
                <a:spcAft>
                  <a:spcPts val="75"/>
                </a:spcAft>
                <a:buClr>
                  <a:srgbClr val="475569"/>
                </a:buClr>
                <a:buSzPts val="1050"/>
                <a:buFont typeface="Cambria"/>
                <a:buChar char="●"/>
              </a:pPr>
              <a:r>
                <a:rPr b="0" lang="en-IN" sz="1050">
                  <a:solidFill>
                    <a:srgbClr val="475569"/>
                  </a:solidFill>
                  <a:latin typeface="Cambria"/>
                  <a:ea typeface="Cambria"/>
                  <a:cs typeface="Cambria"/>
                  <a:sym typeface="Cambria"/>
                </a:rPr>
                <a:t>Performance trends</a:t>
              </a:r>
              <a:endParaRPr b="0" sz="1050">
                <a:solidFill>
                  <a:srgbClr val="475569"/>
                </a:solidFill>
                <a:latin typeface="Cambria"/>
                <a:ea typeface="Cambria"/>
                <a:cs typeface="Cambria"/>
                <a:sym typeface="Cambria"/>
              </a:endParaRPr>
            </a:p>
          </p:txBody>
        </p:sp>
      </p:grpSp>
      <p:grpSp>
        <p:nvGrpSpPr>
          <p:cNvPr id="286" name="Google Shape;286;p9"/>
          <p:cNvGrpSpPr/>
          <p:nvPr/>
        </p:nvGrpSpPr>
        <p:grpSpPr>
          <a:xfrm>
            <a:off x="6200775" y="3745950"/>
            <a:ext cx="2590800" cy="1590600"/>
            <a:chOff x="-9525" y="-9525"/>
            <a:chExt cx="2590800" cy="1590600"/>
          </a:xfrm>
        </p:grpSpPr>
        <p:pic>
          <p:nvPicPr>
            <p:cNvPr id="287" name="Google Shape;287;p9"/>
            <p:cNvPicPr preferRelativeResize="0"/>
            <p:nvPr/>
          </p:nvPicPr>
          <p:blipFill rotWithShape="1">
            <a:blip r:embed="rId4">
              <a:alphaModFix/>
            </a:blip>
            <a:srcRect b="0" l="0" r="0" t="0"/>
            <a:stretch/>
          </p:blipFill>
          <p:spPr>
            <a:xfrm>
              <a:off x="-9525" y="-9525"/>
              <a:ext cx="2590800" cy="1590600"/>
            </a:xfrm>
            <a:prstGeom prst="rect">
              <a:avLst/>
            </a:prstGeom>
            <a:noFill/>
            <a:ln>
              <a:noFill/>
            </a:ln>
          </p:spPr>
        </p:pic>
        <p:sp>
          <p:nvSpPr>
            <p:cNvPr id="288" name="Google Shape;288;p9"/>
            <p:cNvSpPr txBox="1"/>
            <p:nvPr/>
          </p:nvSpPr>
          <p:spPr>
            <a:xfrm>
              <a:off x="114300" y="114300"/>
              <a:ext cx="2343300" cy="1343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IN" sz="1100">
                  <a:solidFill>
                    <a:srgbClr val="2563EB"/>
                  </a:solidFill>
                  <a:latin typeface="Cambria"/>
                  <a:ea typeface="Cambria"/>
                  <a:cs typeface="Cambria"/>
                  <a:sym typeface="Cambria"/>
                </a:rPr>
                <a:t>STEP 7</a:t>
              </a:r>
              <a:endParaRPr b="1" sz="1100">
                <a:solidFill>
                  <a:srgbClr val="2563EB"/>
                </a:solidFill>
                <a:latin typeface="Cambria"/>
                <a:ea typeface="Cambria"/>
                <a:cs typeface="Cambria"/>
                <a:sym typeface="Cambria"/>
              </a:endParaRPr>
            </a:p>
            <a:p>
              <a:pPr indent="0" lvl="0" marL="0" rtl="0" algn="l">
                <a:spcBef>
                  <a:spcPts val="0"/>
                </a:spcBef>
                <a:spcAft>
                  <a:spcPts val="0"/>
                </a:spcAft>
                <a:buNone/>
              </a:pPr>
              <a:r>
                <a:rPr b="1" lang="en-IN" sz="1300">
                  <a:solidFill>
                    <a:srgbClr val="1E293B"/>
                  </a:solidFill>
                  <a:latin typeface="Cambria"/>
                  <a:ea typeface="Cambria"/>
                  <a:cs typeface="Cambria"/>
                  <a:sym typeface="Cambria"/>
                </a:rPr>
                <a:t>Performance Analysis</a:t>
              </a:r>
              <a:endParaRPr b="1" sz="1300">
                <a:solidFill>
                  <a:srgbClr val="1E293B"/>
                </a:solidFill>
                <a:latin typeface="Cambria"/>
                <a:ea typeface="Cambria"/>
                <a:cs typeface="Cambria"/>
                <a:sym typeface="Cambria"/>
              </a:endParaRPr>
            </a:p>
            <a:p>
              <a:pPr indent="0" lvl="0" marL="0" rtl="0" algn="l">
                <a:spcBef>
                  <a:spcPts val="225"/>
                </a:spcBef>
                <a:spcAft>
                  <a:spcPts val="0"/>
                </a:spcAft>
                <a:buNone/>
              </a:pPr>
              <a:r>
                <a:rPr b="0" lang="en-IN" sz="1050">
                  <a:solidFill>
                    <a:srgbClr val="475569"/>
                  </a:solidFill>
                  <a:latin typeface="Cambria"/>
                  <a:ea typeface="Cambria"/>
                  <a:cs typeface="Cambria"/>
                  <a:sym typeface="Cambria"/>
                </a:rPr>
                <a:t>The system compares current performance with historical patterns to identify abnormal conditions.</a:t>
              </a:r>
              <a:endParaRPr b="0" sz="1050">
                <a:solidFill>
                  <a:srgbClr val="475569"/>
                </a:solidFill>
                <a:latin typeface="Cambria"/>
                <a:ea typeface="Cambria"/>
                <a:cs typeface="Cambria"/>
                <a:sym typeface="Cambria"/>
              </a:endParaRPr>
            </a:p>
          </p:txBody>
        </p:sp>
      </p:grpSp>
      <p:grpSp>
        <p:nvGrpSpPr>
          <p:cNvPr id="289" name="Google Shape;289;p9"/>
          <p:cNvGrpSpPr/>
          <p:nvPr/>
        </p:nvGrpSpPr>
        <p:grpSpPr>
          <a:xfrm>
            <a:off x="9001125" y="3745950"/>
            <a:ext cx="2590800" cy="1590600"/>
            <a:chOff x="-9525" y="-9525"/>
            <a:chExt cx="2590800" cy="1590600"/>
          </a:xfrm>
        </p:grpSpPr>
        <p:pic>
          <p:nvPicPr>
            <p:cNvPr id="290" name="Google Shape;290;p9"/>
            <p:cNvPicPr preferRelativeResize="0"/>
            <p:nvPr/>
          </p:nvPicPr>
          <p:blipFill rotWithShape="1">
            <a:blip r:embed="rId4">
              <a:alphaModFix/>
            </a:blip>
            <a:srcRect b="0" l="0" r="0" t="0"/>
            <a:stretch/>
          </p:blipFill>
          <p:spPr>
            <a:xfrm>
              <a:off x="-9525" y="-9525"/>
              <a:ext cx="2590800" cy="1590600"/>
            </a:xfrm>
            <a:prstGeom prst="rect">
              <a:avLst/>
            </a:prstGeom>
            <a:noFill/>
            <a:ln>
              <a:noFill/>
            </a:ln>
          </p:spPr>
        </p:pic>
        <p:sp>
          <p:nvSpPr>
            <p:cNvPr id="291" name="Google Shape;291;p9"/>
            <p:cNvSpPr txBox="1"/>
            <p:nvPr/>
          </p:nvSpPr>
          <p:spPr>
            <a:xfrm>
              <a:off x="114300" y="114300"/>
              <a:ext cx="2343300" cy="1343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IN" sz="1100">
                  <a:solidFill>
                    <a:srgbClr val="059669"/>
                  </a:solidFill>
                  <a:latin typeface="Cambria"/>
                  <a:ea typeface="Cambria"/>
                  <a:cs typeface="Cambria"/>
                  <a:sym typeface="Cambria"/>
                </a:rPr>
                <a:t>STEP 8</a:t>
              </a:r>
              <a:endParaRPr b="1" sz="1100">
                <a:solidFill>
                  <a:srgbClr val="059669"/>
                </a:solidFill>
                <a:latin typeface="Cambria"/>
                <a:ea typeface="Cambria"/>
                <a:cs typeface="Cambria"/>
                <a:sym typeface="Cambria"/>
              </a:endParaRPr>
            </a:p>
            <a:p>
              <a:pPr indent="0" lvl="0" marL="0" rtl="0" algn="l">
                <a:spcBef>
                  <a:spcPts val="0"/>
                </a:spcBef>
                <a:spcAft>
                  <a:spcPts val="0"/>
                </a:spcAft>
                <a:buNone/>
              </a:pPr>
              <a:r>
                <a:rPr b="1" lang="en-IN" sz="1300">
                  <a:solidFill>
                    <a:srgbClr val="1E293B"/>
                  </a:solidFill>
                  <a:latin typeface="Cambria"/>
                  <a:ea typeface="Cambria"/>
                  <a:cs typeface="Cambria"/>
                  <a:sym typeface="Cambria"/>
                </a:rPr>
                <a:t>Maintenance Recommendation</a:t>
              </a:r>
              <a:endParaRPr b="1" sz="1300">
                <a:solidFill>
                  <a:srgbClr val="1E293B"/>
                </a:solidFill>
                <a:latin typeface="Cambria"/>
                <a:ea typeface="Cambria"/>
                <a:cs typeface="Cambria"/>
                <a:sym typeface="Cambria"/>
              </a:endParaRPr>
            </a:p>
            <a:p>
              <a:pPr indent="0" lvl="0" marL="0" rtl="0" algn="l">
                <a:spcBef>
                  <a:spcPts val="225"/>
                </a:spcBef>
                <a:spcAft>
                  <a:spcPts val="0"/>
                </a:spcAft>
                <a:buNone/>
              </a:pPr>
              <a:r>
                <a:rPr b="0" lang="en-IN" sz="1050">
                  <a:solidFill>
                    <a:srgbClr val="475569"/>
                  </a:solidFill>
                  <a:latin typeface="Cambria"/>
                  <a:ea typeface="Cambria"/>
                  <a:cs typeface="Cambria"/>
                  <a:sym typeface="Cambria"/>
                </a:rPr>
                <a:t>Based on observed abnormalities, the system suggests possible maintenance actions.</a:t>
              </a:r>
              <a:endParaRPr b="0" sz="1050">
                <a:solidFill>
                  <a:srgbClr val="475569"/>
                </a:solidFill>
                <a:latin typeface="Cambria"/>
                <a:ea typeface="Cambria"/>
                <a:cs typeface="Cambria"/>
                <a:sym typeface="Cambria"/>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IN">
                <a:latin typeface="Cambria"/>
                <a:ea typeface="Cambria"/>
                <a:cs typeface="Cambria"/>
                <a:sym typeface="Cambria"/>
              </a:rPr>
              <a:t>System Architecture</a:t>
            </a:r>
            <a:endParaRPr>
              <a:latin typeface="Cambria"/>
              <a:ea typeface="Cambria"/>
              <a:cs typeface="Cambria"/>
              <a:sym typeface="Cambria"/>
            </a:endParaRPr>
          </a:p>
        </p:txBody>
      </p:sp>
      <p:sp>
        <p:nvSpPr>
          <p:cNvPr id="297" name="Google Shape;297;p23"/>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rPr lang="en-IN"/>
              <a:t>23-08-2026</a:t>
            </a:r>
            <a:endParaRPr/>
          </a:p>
        </p:txBody>
      </p:sp>
      <p:sp>
        <p:nvSpPr>
          <p:cNvPr id="298" name="Google Shape;298;p23"/>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IN"/>
              <a:t>‹#›</a:t>
            </a:fld>
            <a:endParaRPr/>
          </a:p>
        </p:txBody>
      </p:sp>
      <p:sp>
        <p:nvSpPr>
          <p:cNvPr id="299" name="Google Shape;299;p23"/>
          <p:cNvSpPr txBox="1"/>
          <p:nvPr/>
        </p:nvSpPr>
        <p:spPr>
          <a:xfrm>
            <a:off x="3454400" y="6211669"/>
            <a:ext cx="60960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IN" sz="1800" u="none" cap="none" strike="noStrike">
                <a:solidFill>
                  <a:schemeClr val="dk1"/>
                </a:solidFill>
                <a:latin typeface="Cambria"/>
                <a:ea typeface="Cambria"/>
                <a:cs typeface="Cambria"/>
                <a:sym typeface="Cambria"/>
              </a:rPr>
              <a:t>DEPARTMENT OF COMPUTER ENGINEERING </a:t>
            </a:r>
            <a:endParaRPr b="0" i="0" sz="1400" u="none" cap="none" strike="noStrike">
              <a:solidFill>
                <a:schemeClr val="dk1"/>
              </a:solidFill>
              <a:latin typeface="Cambria"/>
              <a:ea typeface="Cambria"/>
              <a:cs typeface="Cambria"/>
              <a:sym typeface="Cambria"/>
            </a:endParaRPr>
          </a:p>
          <a:p>
            <a:pPr indent="0" lvl="0" marL="0" marR="0" rtl="0" algn="ctr">
              <a:lnSpc>
                <a:spcPct val="100000"/>
              </a:lnSpc>
              <a:spcBef>
                <a:spcPts val="0"/>
              </a:spcBef>
              <a:spcAft>
                <a:spcPts val="0"/>
              </a:spcAft>
              <a:buClr>
                <a:schemeClr val="dk1"/>
              </a:buClr>
              <a:buSzPts val="1800"/>
              <a:buFont typeface="Arial"/>
              <a:buNone/>
            </a:pPr>
            <a:r>
              <a:rPr b="0" i="0" lang="en-IN" sz="1800" u="none" cap="none" strike="noStrike">
                <a:solidFill>
                  <a:schemeClr val="dk1"/>
                </a:solidFill>
                <a:latin typeface="Cambria"/>
                <a:ea typeface="Cambria"/>
                <a:cs typeface="Cambria"/>
                <a:sym typeface="Cambria"/>
              </a:rPr>
              <a:t>*Proprietary material of SILVER OAK UNIVERSITY</a:t>
            </a:r>
            <a:endParaRPr b="0" i="0" sz="1800" u="none" cap="none" strike="noStrike">
              <a:solidFill>
                <a:schemeClr val="dk1"/>
              </a:solidFill>
              <a:latin typeface="Calibri"/>
              <a:ea typeface="Calibri"/>
              <a:cs typeface="Calibri"/>
              <a:sym typeface="Calibri"/>
            </a:endParaRPr>
          </a:p>
        </p:txBody>
      </p:sp>
      <p:grpSp>
        <p:nvGrpSpPr>
          <p:cNvPr id="300" name="Google Shape;300;p23"/>
          <p:cNvGrpSpPr/>
          <p:nvPr/>
        </p:nvGrpSpPr>
        <p:grpSpPr>
          <a:xfrm>
            <a:off x="609600" y="1417650"/>
            <a:ext cx="10972800" cy="3606980"/>
            <a:chOff x="0" y="0"/>
            <a:chExt cx="10972800" cy="2000100"/>
          </a:xfrm>
        </p:grpSpPr>
        <p:sp>
          <p:nvSpPr>
            <p:cNvPr id="301" name="Google Shape;301;p23"/>
            <p:cNvSpPr/>
            <p:nvPr/>
          </p:nvSpPr>
          <p:spPr>
            <a:xfrm>
              <a:off x="0" y="0"/>
              <a:ext cx="10972800" cy="2000100"/>
            </a:xfrm>
            <a:prstGeom prst="roundRect">
              <a:avLst>
                <a:gd fmla="val 3809"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2" name="Google Shape;302;p23"/>
            <p:cNvSpPr txBox="1"/>
            <p:nvPr/>
          </p:nvSpPr>
          <p:spPr>
            <a:xfrm>
              <a:off x="190500" y="114300"/>
              <a:ext cx="10591800" cy="238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IN" sz="1600">
                  <a:solidFill>
                    <a:srgbClr val="475569"/>
                  </a:solidFill>
                  <a:latin typeface="Cambria"/>
                  <a:ea typeface="Cambria"/>
                  <a:cs typeface="Cambria"/>
                  <a:sym typeface="Cambria"/>
                </a:rPr>
                <a:t>End-to-End System Data Flow Pipeline</a:t>
              </a:r>
              <a:endParaRPr b="1" sz="1600">
                <a:solidFill>
                  <a:srgbClr val="475569"/>
                </a:solidFill>
                <a:latin typeface="Cambria"/>
                <a:ea typeface="Cambria"/>
                <a:cs typeface="Cambria"/>
                <a:sym typeface="Cambria"/>
              </a:endParaRPr>
            </a:p>
          </p:txBody>
        </p:sp>
        <p:grpSp>
          <p:nvGrpSpPr>
            <p:cNvPr id="303" name="Google Shape;303;p23"/>
            <p:cNvGrpSpPr/>
            <p:nvPr/>
          </p:nvGrpSpPr>
          <p:grpSpPr>
            <a:xfrm>
              <a:off x="285750" y="428625"/>
              <a:ext cx="1095300" cy="1047900"/>
              <a:chOff x="0" y="0"/>
              <a:chExt cx="1095300" cy="1047900"/>
            </a:xfrm>
          </p:grpSpPr>
          <p:sp>
            <p:nvSpPr>
              <p:cNvPr id="304" name="Google Shape;304;p23"/>
              <p:cNvSpPr/>
              <p:nvPr/>
            </p:nvSpPr>
            <p:spPr>
              <a:xfrm>
                <a:off x="0" y="0"/>
                <a:ext cx="1095300" cy="1047900"/>
              </a:xfrm>
              <a:prstGeom prst="roundRect">
                <a:avLst>
                  <a:gd fmla="val 5454"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5" name="Google Shape;305;p23"/>
              <p:cNvSpPr txBox="1"/>
              <p:nvPr/>
            </p:nvSpPr>
            <p:spPr>
              <a:xfrm>
                <a:off x="47625" y="95250"/>
                <a:ext cx="1000200" cy="857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IN" sz="1050">
                    <a:solidFill>
                      <a:srgbClr val="1E3A8A"/>
                    </a:solidFill>
                    <a:latin typeface="Cambria"/>
                    <a:ea typeface="Cambria"/>
                    <a:cs typeface="Cambria"/>
                    <a:sym typeface="Cambria"/>
                  </a:rPr>
                  <a:t>1. Sensors</a:t>
                </a:r>
                <a:endParaRPr b="1" sz="1050">
                  <a:solidFill>
                    <a:srgbClr val="1E3A8A"/>
                  </a:solidFill>
                  <a:latin typeface="Cambria"/>
                  <a:ea typeface="Cambria"/>
                  <a:cs typeface="Cambria"/>
                  <a:sym typeface="Cambria"/>
                </a:endParaRPr>
              </a:p>
              <a:p>
                <a:pPr indent="0" lvl="0" marL="0" rtl="0" algn="ctr">
                  <a:spcBef>
                    <a:spcPts val="300"/>
                  </a:spcBef>
                  <a:spcAft>
                    <a:spcPts val="0"/>
                  </a:spcAft>
                  <a:buNone/>
                </a:pPr>
                <a:r>
                  <a:rPr b="0" lang="en-IN" sz="950">
                    <a:solidFill>
                      <a:srgbClr val="3B82F6"/>
                    </a:solidFill>
                    <a:latin typeface="Cambria"/>
                    <a:ea typeface="Cambria"/>
                    <a:cs typeface="Cambria"/>
                    <a:sym typeface="Cambria"/>
                  </a:rPr>
                  <a:t>Voltage, Current, Temp</a:t>
                </a:r>
                <a:endParaRPr b="0" sz="950">
                  <a:solidFill>
                    <a:srgbClr val="3B82F6"/>
                  </a:solidFill>
                  <a:latin typeface="Cambria"/>
                  <a:ea typeface="Cambria"/>
                  <a:cs typeface="Cambria"/>
                  <a:sym typeface="Cambria"/>
                </a:endParaRPr>
              </a:p>
            </p:txBody>
          </p:sp>
        </p:grpSp>
        <p:pic>
          <p:nvPicPr>
            <p:cNvPr id="306" name="Google Shape;306;p23"/>
            <p:cNvPicPr preferRelativeResize="0"/>
            <p:nvPr/>
          </p:nvPicPr>
          <p:blipFill rotWithShape="1">
            <a:blip r:embed="rId3">
              <a:alphaModFix/>
            </a:blip>
            <a:srcRect b="0" l="0" r="0" t="0"/>
            <a:stretch/>
          </p:blipFill>
          <p:spPr>
            <a:xfrm>
              <a:off x="1428750" y="942975"/>
              <a:ext cx="142800" cy="19200"/>
            </a:xfrm>
            <a:prstGeom prst="rect">
              <a:avLst/>
            </a:prstGeom>
            <a:noFill/>
            <a:ln>
              <a:noFill/>
            </a:ln>
          </p:spPr>
        </p:pic>
        <p:grpSp>
          <p:nvGrpSpPr>
            <p:cNvPr id="307" name="Google Shape;307;p23"/>
            <p:cNvGrpSpPr/>
            <p:nvPr/>
          </p:nvGrpSpPr>
          <p:grpSpPr>
            <a:xfrm>
              <a:off x="1619250" y="428625"/>
              <a:ext cx="1095300" cy="1047900"/>
              <a:chOff x="0" y="0"/>
              <a:chExt cx="1095300" cy="1047900"/>
            </a:xfrm>
          </p:grpSpPr>
          <p:sp>
            <p:nvSpPr>
              <p:cNvPr id="308" name="Google Shape;308;p23"/>
              <p:cNvSpPr/>
              <p:nvPr/>
            </p:nvSpPr>
            <p:spPr>
              <a:xfrm>
                <a:off x="0" y="0"/>
                <a:ext cx="1095300" cy="1047900"/>
              </a:xfrm>
              <a:prstGeom prst="roundRect">
                <a:avLst>
                  <a:gd fmla="val 5454"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9" name="Google Shape;309;p23"/>
              <p:cNvSpPr txBox="1"/>
              <p:nvPr/>
            </p:nvSpPr>
            <p:spPr>
              <a:xfrm>
                <a:off x="47625" y="95250"/>
                <a:ext cx="1000200" cy="857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IN" sz="1050">
                    <a:solidFill>
                      <a:srgbClr val="1E3A8A"/>
                    </a:solidFill>
                    <a:latin typeface="Cambria"/>
                    <a:ea typeface="Cambria"/>
                    <a:cs typeface="Cambria"/>
                    <a:sym typeface="Cambria"/>
                  </a:rPr>
                  <a:t>2. ESP8266</a:t>
                </a:r>
                <a:endParaRPr b="1" sz="1050">
                  <a:solidFill>
                    <a:srgbClr val="1E3A8A"/>
                  </a:solidFill>
                  <a:latin typeface="Cambria"/>
                  <a:ea typeface="Cambria"/>
                  <a:cs typeface="Cambria"/>
                  <a:sym typeface="Cambria"/>
                </a:endParaRPr>
              </a:p>
              <a:p>
                <a:pPr indent="0" lvl="0" marL="0" rtl="0" algn="ctr">
                  <a:spcBef>
                    <a:spcPts val="300"/>
                  </a:spcBef>
                  <a:spcAft>
                    <a:spcPts val="0"/>
                  </a:spcAft>
                  <a:buNone/>
                </a:pPr>
                <a:r>
                  <a:rPr b="0" lang="en-IN" sz="950">
                    <a:solidFill>
                      <a:srgbClr val="3B82F6"/>
                    </a:solidFill>
                    <a:latin typeface="Cambria"/>
                    <a:ea typeface="Cambria"/>
                    <a:cs typeface="Cambria"/>
                    <a:sym typeface="Cambria"/>
                  </a:rPr>
                  <a:t>Reads &amp; Computes Power</a:t>
                </a:r>
                <a:endParaRPr b="0" sz="950">
                  <a:solidFill>
                    <a:srgbClr val="3B82F6"/>
                  </a:solidFill>
                  <a:latin typeface="Cambria"/>
                  <a:ea typeface="Cambria"/>
                  <a:cs typeface="Cambria"/>
                  <a:sym typeface="Cambria"/>
                </a:endParaRPr>
              </a:p>
            </p:txBody>
          </p:sp>
        </p:grpSp>
        <p:grpSp>
          <p:nvGrpSpPr>
            <p:cNvPr id="310" name="Google Shape;310;p23"/>
            <p:cNvGrpSpPr/>
            <p:nvPr/>
          </p:nvGrpSpPr>
          <p:grpSpPr>
            <a:xfrm>
              <a:off x="2952750" y="428625"/>
              <a:ext cx="1095300" cy="1047900"/>
              <a:chOff x="0" y="0"/>
              <a:chExt cx="1095300" cy="1047900"/>
            </a:xfrm>
          </p:grpSpPr>
          <p:sp>
            <p:nvSpPr>
              <p:cNvPr id="311" name="Google Shape;311;p23"/>
              <p:cNvSpPr/>
              <p:nvPr/>
            </p:nvSpPr>
            <p:spPr>
              <a:xfrm>
                <a:off x="0" y="0"/>
                <a:ext cx="1095300" cy="1047900"/>
              </a:xfrm>
              <a:prstGeom prst="roundRect">
                <a:avLst>
                  <a:gd fmla="val 5454"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2" name="Google Shape;312;p23"/>
              <p:cNvSpPr txBox="1"/>
              <p:nvPr/>
            </p:nvSpPr>
            <p:spPr>
              <a:xfrm>
                <a:off x="47625" y="95250"/>
                <a:ext cx="1000200" cy="857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IN" sz="1050">
                    <a:solidFill>
                      <a:srgbClr val="1E3A8A"/>
                    </a:solidFill>
                    <a:latin typeface="Cambria"/>
                    <a:ea typeface="Cambria"/>
                    <a:cs typeface="Cambria"/>
                    <a:sym typeface="Cambria"/>
                  </a:rPr>
                  <a:t>3. Wi-Fi</a:t>
                </a:r>
                <a:endParaRPr b="1" sz="1050">
                  <a:solidFill>
                    <a:srgbClr val="1E3A8A"/>
                  </a:solidFill>
                  <a:latin typeface="Cambria"/>
                  <a:ea typeface="Cambria"/>
                  <a:cs typeface="Cambria"/>
                  <a:sym typeface="Cambria"/>
                </a:endParaRPr>
              </a:p>
              <a:p>
                <a:pPr indent="0" lvl="0" marL="0" rtl="0" algn="ctr">
                  <a:spcBef>
                    <a:spcPts val="300"/>
                  </a:spcBef>
                  <a:spcAft>
                    <a:spcPts val="0"/>
                  </a:spcAft>
                  <a:buNone/>
                </a:pPr>
                <a:r>
                  <a:rPr b="0" lang="en-IN" sz="950">
                    <a:solidFill>
                      <a:srgbClr val="3B82F6"/>
                    </a:solidFill>
                    <a:latin typeface="Cambria"/>
                    <a:ea typeface="Cambria"/>
                    <a:cs typeface="Cambria"/>
                    <a:sym typeface="Cambria"/>
                  </a:rPr>
                  <a:t>IoT Wireless Transmission</a:t>
                </a:r>
                <a:endParaRPr b="0" sz="950">
                  <a:solidFill>
                    <a:srgbClr val="3B82F6"/>
                  </a:solidFill>
                  <a:latin typeface="Cambria"/>
                  <a:ea typeface="Cambria"/>
                  <a:cs typeface="Cambria"/>
                  <a:sym typeface="Cambria"/>
                </a:endParaRPr>
              </a:p>
            </p:txBody>
          </p:sp>
        </p:grpSp>
        <p:grpSp>
          <p:nvGrpSpPr>
            <p:cNvPr id="313" name="Google Shape;313;p23"/>
            <p:cNvGrpSpPr/>
            <p:nvPr/>
          </p:nvGrpSpPr>
          <p:grpSpPr>
            <a:xfrm>
              <a:off x="4286250" y="428625"/>
              <a:ext cx="1095300" cy="1047900"/>
              <a:chOff x="0" y="0"/>
              <a:chExt cx="1095300" cy="1047900"/>
            </a:xfrm>
          </p:grpSpPr>
          <p:sp>
            <p:nvSpPr>
              <p:cNvPr id="314" name="Google Shape;314;p23"/>
              <p:cNvSpPr/>
              <p:nvPr/>
            </p:nvSpPr>
            <p:spPr>
              <a:xfrm>
                <a:off x="0" y="0"/>
                <a:ext cx="1095300" cy="1047900"/>
              </a:xfrm>
              <a:prstGeom prst="roundRect">
                <a:avLst>
                  <a:gd fmla="val 5454"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5" name="Google Shape;315;p23"/>
              <p:cNvSpPr txBox="1"/>
              <p:nvPr/>
            </p:nvSpPr>
            <p:spPr>
              <a:xfrm>
                <a:off x="47625" y="95250"/>
                <a:ext cx="1000200" cy="857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IN" sz="1050">
                    <a:solidFill>
                      <a:srgbClr val="1E3A8A"/>
                    </a:solidFill>
                    <a:latin typeface="Cambria"/>
                    <a:ea typeface="Cambria"/>
                    <a:cs typeface="Cambria"/>
                    <a:sym typeface="Cambria"/>
                  </a:rPr>
                  <a:t>4. REST API</a:t>
                </a:r>
                <a:endParaRPr b="1" sz="1050">
                  <a:solidFill>
                    <a:srgbClr val="1E3A8A"/>
                  </a:solidFill>
                  <a:latin typeface="Cambria"/>
                  <a:ea typeface="Cambria"/>
                  <a:cs typeface="Cambria"/>
                  <a:sym typeface="Cambria"/>
                </a:endParaRPr>
              </a:p>
              <a:p>
                <a:pPr indent="0" lvl="0" marL="0" rtl="0" algn="ctr">
                  <a:spcBef>
                    <a:spcPts val="300"/>
                  </a:spcBef>
                  <a:spcAft>
                    <a:spcPts val="0"/>
                  </a:spcAft>
                  <a:buNone/>
                </a:pPr>
                <a:r>
                  <a:rPr b="0" lang="en-IN" sz="950">
                    <a:solidFill>
                      <a:srgbClr val="3B82F6"/>
                    </a:solidFill>
                    <a:latin typeface="Cambria"/>
                    <a:ea typeface="Cambria"/>
                    <a:cs typeface="Cambria"/>
                    <a:sym typeface="Cambria"/>
                  </a:rPr>
                  <a:t>Java Spring Boot</a:t>
                </a:r>
                <a:endParaRPr b="0" sz="950">
                  <a:solidFill>
                    <a:srgbClr val="3B82F6"/>
                  </a:solidFill>
                  <a:latin typeface="Cambria"/>
                  <a:ea typeface="Cambria"/>
                  <a:cs typeface="Cambria"/>
                  <a:sym typeface="Cambria"/>
                </a:endParaRPr>
              </a:p>
            </p:txBody>
          </p:sp>
        </p:grpSp>
        <p:grpSp>
          <p:nvGrpSpPr>
            <p:cNvPr id="316" name="Google Shape;316;p23"/>
            <p:cNvGrpSpPr/>
            <p:nvPr/>
          </p:nvGrpSpPr>
          <p:grpSpPr>
            <a:xfrm>
              <a:off x="5619750" y="428625"/>
              <a:ext cx="1095300" cy="1047900"/>
              <a:chOff x="0" y="0"/>
              <a:chExt cx="1095300" cy="1047900"/>
            </a:xfrm>
          </p:grpSpPr>
          <p:sp>
            <p:nvSpPr>
              <p:cNvPr id="317" name="Google Shape;317;p23"/>
              <p:cNvSpPr/>
              <p:nvPr/>
            </p:nvSpPr>
            <p:spPr>
              <a:xfrm>
                <a:off x="0" y="0"/>
                <a:ext cx="1095300" cy="1047900"/>
              </a:xfrm>
              <a:prstGeom prst="roundRect">
                <a:avLst>
                  <a:gd fmla="val 5454"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8" name="Google Shape;318;p23"/>
              <p:cNvSpPr txBox="1"/>
              <p:nvPr/>
            </p:nvSpPr>
            <p:spPr>
              <a:xfrm>
                <a:off x="47625" y="95250"/>
                <a:ext cx="1000200" cy="857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IN" sz="1050">
                    <a:solidFill>
                      <a:srgbClr val="1E3A8A"/>
                    </a:solidFill>
                    <a:latin typeface="Cambria"/>
                    <a:ea typeface="Cambria"/>
                    <a:cs typeface="Cambria"/>
                    <a:sym typeface="Cambria"/>
                  </a:rPr>
                  <a:t>5. MySQL</a:t>
                </a:r>
                <a:endParaRPr b="1" sz="1050">
                  <a:solidFill>
                    <a:srgbClr val="1E3A8A"/>
                  </a:solidFill>
                  <a:latin typeface="Cambria"/>
                  <a:ea typeface="Cambria"/>
                  <a:cs typeface="Cambria"/>
                  <a:sym typeface="Cambria"/>
                </a:endParaRPr>
              </a:p>
              <a:p>
                <a:pPr indent="0" lvl="0" marL="0" rtl="0" algn="ctr">
                  <a:spcBef>
                    <a:spcPts val="300"/>
                  </a:spcBef>
                  <a:spcAft>
                    <a:spcPts val="0"/>
                  </a:spcAft>
                  <a:buNone/>
                </a:pPr>
                <a:r>
                  <a:rPr b="0" lang="en-IN" sz="950">
                    <a:solidFill>
                      <a:srgbClr val="3B82F6"/>
                    </a:solidFill>
                    <a:latin typeface="Cambria"/>
                    <a:ea typeface="Cambria"/>
                    <a:cs typeface="Cambria"/>
                    <a:sym typeface="Cambria"/>
                  </a:rPr>
                  <a:t>Structured Data Storage</a:t>
                </a:r>
                <a:endParaRPr b="0" sz="950">
                  <a:solidFill>
                    <a:srgbClr val="3B82F6"/>
                  </a:solidFill>
                  <a:latin typeface="Cambria"/>
                  <a:ea typeface="Cambria"/>
                  <a:cs typeface="Cambria"/>
                  <a:sym typeface="Cambria"/>
                </a:endParaRPr>
              </a:p>
            </p:txBody>
          </p:sp>
        </p:grpSp>
        <p:grpSp>
          <p:nvGrpSpPr>
            <p:cNvPr id="319" name="Google Shape;319;p23"/>
            <p:cNvGrpSpPr/>
            <p:nvPr/>
          </p:nvGrpSpPr>
          <p:grpSpPr>
            <a:xfrm>
              <a:off x="6953250" y="428625"/>
              <a:ext cx="1095300" cy="1047900"/>
              <a:chOff x="0" y="0"/>
              <a:chExt cx="1095300" cy="1047900"/>
            </a:xfrm>
          </p:grpSpPr>
          <p:sp>
            <p:nvSpPr>
              <p:cNvPr id="320" name="Google Shape;320;p23"/>
              <p:cNvSpPr/>
              <p:nvPr/>
            </p:nvSpPr>
            <p:spPr>
              <a:xfrm>
                <a:off x="0" y="0"/>
                <a:ext cx="1095300" cy="1047900"/>
              </a:xfrm>
              <a:prstGeom prst="roundRect">
                <a:avLst>
                  <a:gd fmla="val 5454"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1" name="Google Shape;321;p23"/>
              <p:cNvSpPr txBox="1"/>
              <p:nvPr/>
            </p:nvSpPr>
            <p:spPr>
              <a:xfrm>
                <a:off x="47625" y="95250"/>
                <a:ext cx="1000200" cy="857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IN" sz="1050">
                    <a:solidFill>
                      <a:srgbClr val="1E3A8A"/>
                    </a:solidFill>
                    <a:latin typeface="Cambria"/>
                    <a:ea typeface="Cambria"/>
                    <a:cs typeface="Cambria"/>
                    <a:sym typeface="Cambria"/>
                  </a:rPr>
                  <a:t>6. UI Dash</a:t>
                </a:r>
                <a:endParaRPr b="1" sz="1050">
                  <a:solidFill>
                    <a:srgbClr val="1E3A8A"/>
                  </a:solidFill>
                  <a:latin typeface="Cambria"/>
                  <a:ea typeface="Cambria"/>
                  <a:cs typeface="Cambria"/>
                  <a:sym typeface="Cambria"/>
                </a:endParaRPr>
              </a:p>
              <a:p>
                <a:pPr indent="0" lvl="0" marL="0" rtl="0" algn="ctr">
                  <a:spcBef>
                    <a:spcPts val="300"/>
                  </a:spcBef>
                  <a:spcAft>
                    <a:spcPts val="0"/>
                  </a:spcAft>
                  <a:buNone/>
                </a:pPr>
                <a:r>
                  <a:rPr b="0" lang="en-IN" sz="950">
                    <a:solidFill>
                      <a:srgbClr val="3B82F6"/>
                    </a:solidFill>
                    <a:latin typeface="Cambria"/>
                    <a:ea typeface="Cambria"/>
                    <a:cs typeface="Cambria"/>
                    <a:sym typeface="Cambria"/>
                  </a:rPr>
                  <a:t>Live Graphs &amp; Analytics</a:t>
                </a:r>
                <a:endParaRPr b="0" sz="950">
                  <a:solidFill>
                    <a:srgbClr val="3B82F6"/>
                  </a:solidFill>
                  <a:latin typeface="Cambria"/>
                  <a:ea typeface="Cambria"/>
                  <a:cs typeface="Cambria"/>
                  <a:sym typeface="Cambria"/>
                </a:endParaRPr>
              </a:p>
            </p:txBody>
          </p:sp>
        </p:grpSp>
        <p:grpSp>
          <p:nvGrpSpPr>
            <p:cNvPr id="322" name="Google Shape;322;p23"/>
            <p:cNvGrpSpPr/>
            <p:nvPr/>
          </p:nvGrpSpPr>
          <p:grpSpPr>
            <a:xfrm>
              <a:off x="8286750" y="428625"/>
              <a:ext cx="1095300" cy="1047900"/>
              <a:chOff x="0" y="0"/>
              <a:chExt cx="1095300" cy="1047900"/>
            </a:xfrm>
          </p:grpSpPr>
          <p:sp>
            <p:nvSpPr>
              <p:cNvPr id="323" name="Google Shape;323;p23"/>
              <p:cNvSpPr/>
              <p:nvPr/>
            </p:nvSpPr>
            <p:spPr>
              <a:xfrm>
                <a:off x="0" y="0"/>
                <a:ext cx="1095300" cy="1047900"/>
              </a:xfrm>
              <a:prstGeom prst="roundRect">
                <a:avLst>
                  <a:gd fmla="val 5454"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4" name="Google Shape;324;p23"/>
              <p:cNvSpPr txBox="1"/>
              <p:nvPr/>
            </p:nvSpPr>
            <p:spPr>
              <a:xfrm>
                <a:off x="47625" y="95250"/>
                <a:ext cx="1000200" cy="857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IN" sz="1050">
                    <a:solidFill>
                      <a:srgbClr val="1E3A8A"/>
                    </a:solidFill>
                    <a:latin typeface="Cambria"/>
                    <a:ea typeface="Cambria"/>
                    <a:cs typeface="Cambria"/>
                    <a:sym typeface="Cambria"/>
                  </a:rPr>
                  <a:t>7. Analytics</a:t>
                </a:r>
                <a:endParaRPr b="1" sz="1050">
                  <a:solidFill>
                    <a:srgbClr val="1E3A8A"/>
                  </a:solidFill>
                  <a:latin typeface="Cambria"/>
                  <a:ea typeface="Cambria"/>
                  <a:cs typeface="Cambria"/>
                  <a:sym typeface="Cambria"/>
                </a:endParaRPr>
              </a:p>
              <a:p>
                <a:pPr indent="0" lvl="0" marL="0" rtl="0" algn="ctr">
                  <a:spcBef>
                    <a:spcPts val="300"/>
                  </a:spcBef>
                  <a:spcAft>
                    <a:spcPts val="0"/>
                  </a:spcAft>
                  <a:buNone/>
                </a:pPr>
                <a:r>
                  <a:rPr b="0" lang="en-IN" sz="950">
                    <a:solidFill>
                      <a:srgbClr val="3B82F6"/>
                    </a:solidFill>
                    <a:latin typeface="Cambria"/>
                    <a:ea typeface="Cambria"/>
                    <a:cs typeface="Cambria"/>
                    <a:sym typeface="Cambria"/>
                  </a:rPr>
                  <a:t>Anomaly Flagging</a:t>
                </a:r>
                <a:endParaRPr b="0" sz="950">
                  <a:solidFill>
                    <a:srgbClr val="3B82F6"/>
                  </a:solidFill>
                  <a:latin typeface="Cambria"/>
                  <a:ea typeface="Cambria"/>
                  <a:cs typeface="Cambria"/>
                  <a:sym typeface="Cambria"/>
                </a:endParaRPr>
              </a:p>
            </p:txBody>
          </p:sp>
        </p:grpSp>
        <p:grpSp>
          <p:nvGrpSpPr>
            <p:cNvPr id="325" name="Google Shape;325;p23"/>
            <p:cNvGrpSpPr/>
            <p:nvPr/>
          </p:nvGrpSpPr>
          <p:grpSpPr>
            <a:xfrm>
              <a:off x="9620250" y="428625"/>
              <a:ext cx="1066800" cy="1047900"/>
              <a:chOff x="0" y="0"/>
              <a:chExt cx="1066800" cy="1047900"/>
            </a:xfrm>
          </p:grpSpPr>
          <p:sp>
            <p:nvSpPr>
              <p:cNvPr id="326" name="Google Shape;326;p23"/>
              <p:cNvSpPr/>
              <p:nvPr/>
            </p:nvSpPr>
            <p:spPr>
              <a:xfrm>
                <a:off x="0" y="0"/>
                <a:ext cx="1066800" cy="1047900"/>
              </a:xfrm>
              <a:prstGeom prst="roundRect">
                <a:avLst>
                  <a:gd fmla="val 5454" name="adj"/>
                </a:avLst>
              </a:prstGeom>
              <a:solidFill>
                <a:srgbClr val="ECFDF5"/>
              </a:solidFill>
              <a:ln cap="flat" cmpd="sng" w="9525">
                <a:solidFill>
                  <a:srgbClr val="A7F3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7" name="Google Shape;327;p23"/>
              <p:cNvSpPr txBox="1"/>
              <p:nvPr/>
            </p:nvSpPr>
            <p:spPr>
              <a:xfrm>
                <a:off x="47625" y="95250"/>
                <a:ext cx="971700" cy="857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IN" sz="1050">
                    <a:solidFill>
                      <a:srgbClr val="065F46"/>
                    </a:solidFill>
                    <a:latin typeface="Cambria"/>
                    <a:ea typeface="Cambria"/>
                    <a:cs typeface="Cambria"/>
                    <a:sym typeface="Cambria"/>
                  </a:rPr>
                  <a:t>8. Actions</a:t>
                </a:r>
                <a:endParaRPr b="1" sz="1050">
                  <a:solidFill>
                    <a:srgbClr val="065F46"/>
                  </a:solidFill>
                  <a:latin typeface="Cambria"/>
                  <a:ea typeface="Cambria"/>
                  <a:cs typeface="Cambria"/>
                  <a:sym typeface="Cambria"/>
                </a:endParaRPr>
              </a:p>
              <a:p>
                <a:pPr indent="0" lvl="0" marL="0" rtl="0" algn="ctr">
                  <a:spcBef>
                    <a:spcPts val="300"/>
                  </a:spcBef>
                  <a:spcAft>
                    <a:spcPts val="0"/>
                  </a:spcAft>
                  <a:buNone/>
                </a:pPr>
                <a:r>
                  <a:rPr b="0" lang="en-IN" sz="950">
                    <a:solidFill>
                      <a:srgbClr val="059669"/>
                    </a:solidFill>
                    <a:latin typeface="Cambria"/>
                    <a:ea typeface="Cambria"/>
                    <a:cs typeface="Cambria"/>
                    <a:sym typeface="Cambria"/>
                  </a:rPr>
                  <a:t>Preventive Recommendations</a:t>
                </a:r>
                <a:endParaRPr b="0" sz="950">
                  <a:solidFill>
                    <a:srgbClr val="059669"/>
                  </a:solidFill>
                  <a:latin typeface="Cambria"/>
                  <a:ea typeface="Cambria"/>
                  <a:cs typeface="Cambria"/>
                  <a:sym typeface="Cambria"/>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1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IN">
                <a:latin typeface="Cambria"/>
                <a:ea typeface="Cambria"/>
                <a:cs typeface="Cambria"/>
                <a:sym typeface="Cambria"/>
              </a:rPr>
              <a:t>Bibliography</a:t>
            </a:r>
            <a:endParaRPr>
              <a:latin typeface="Cambria"/>
              <a:ea typeface="Cambria"/>
              <a:cs typeface="Cambria"/>
              <a:sym typeface="Cambria"/>
            </a:endParaRPr>
          </a:p>
        </p:txBody>
      </p:sp>
      <p:sp>
        <p:nvSpPr>
          <p:cNvPr id="333" name="Google Shape;333;p10"/>
          <p:cNvSpPr txBox="1"/>
          <p:nvPr>
            <p:ph idx="1" type="body"/>
          </p:nvPr>
        </p:nvSpPr>
        <p:spPr>
          <a:xfrm>
            <a:off x="609600" y="1600201"/>
            <a:ext cx="10972800" cy="4526100"/>
          </a:xfrm>
          <a:prstGeom prst="rect">
            <a:avLst/>
          </a:prstGeom>
          <a:noFill/>
          <a:ln>
            <a:noFill/>
          </a:ln>
        </p:spPr>
        <p:txBody>
          <a:bodyPr anchorCtr="0" anchor="t" bIns="45700" lIns="91425" spcFirstLastPara="1" rIns="91425" wrap="square" tIns="45700">
            <a:noAutofit/>
          </a:bodyPr>
          <a:lstStyle/>
          <a:p>
            <a:pPr indent="-381000" lvl="0" marL="457200" rtl="0" algn="l">
              <a:lnSpc>
                <a:spcPct val="115000"/>
              </a:lnSpc>
              <a:spcBef>
                <a:spcPts val="1200"/>
              </a:spcBef>
              <a:spcAft>
                <a:spcPts val="0"/>
              </a:spcAft>
              <a:buSzPts val="2400"/>
              <a:buFont typeface="Cambria"/>
              <a:buAutoNum type="arabicPeriod"/>
            </a:pPr>
            <a:r>
              <a:rPr lang="en-IN" sz="2400">
                <a:latin typeface="Cambria"/>
                <a:ea typeface="Cambria"/>
                <a:cs typeface="Cambria"/>
                <a:sym typeface="Cambria"/>
              </a:rPr>
              <a:t>“</a:t>
            </a:r>
            <a:r>
              <a:rPr b="1" lang="en-IN" sz="2400">
                <a:latin typeface="Cambria"/>
                <a:ea typeface="Cambria"/>
                <a:cs typeface="Cambria"/>
                <a:sym typeface="Cambria"/>
              </a:rPr>
              <a:t>IoT-Enabled Real-Time Monitoring and Predictive Maintenance for Solar Systems</a:t>
            </a:r>
            <a:r>
              <a:rPr lang="en-IN" sz="2400">
                <a:latin typeface="Cambria"/>
                <a:ea typeface="Cambria"/>
                <a:cs typeface="Cambria"/>
                <a:sym typeface="Cambria"/>
              </a:rPr>
              <a:t>”: Maximizing Efficiency and Minimizing Downtime, IEEE, 2024.</a:t>
            </a:r>
            <a:endParaRPr sz="2400">
              <a:latin typeface="Cambria"/>
              <a:ea typeface="Cambria"/>
              <a:cs typeface="Cambria"/>
              <a:sym typeface="Cambria"/>
            </a:endParaRPr>
          </a:p>
          <a:p>
            <a:pPr indent="-381000" lvl="0" marL="457200" rtl="0" algn="l">
              <a:lnSpc>
                <a:spcPct val="115000"/>
              </a:lnSpc>
              <a:spcBef>
                <a:spcPts val="0"/>
              </a:spcBef>
              <a:spcAft>
                <a:spcPts val="0"/>
              </a:spcAft>
              <a:buSzPts val="2400"/>
              <a:buFont typeface="Cambria"/>
              <a:buAutoNum type="arabicPeriod"/>
            </a:pPr>
            <a:r>
              <a:rPr lang="en-IN" sz="2400">
                <a:latin typeface="Cambria"/>
                <a:ea typeface="Cambria"/>
                <a:cs typeface="Cambria"/>
                <a:sym typeface="Cambria"/>
              </a:rPr>
              <a:t>IoT Based Solar Power Monitoring System, IOP Conference Series: Materials Science and Engineering, 2020.</a:t>
            </a:r>
            <a:endParaRPr sz="2400">
              <a:latin typeface="Cambria"/>
              <a:ea typeface="Cambria"/>
              <a:cs typeface="Cambria"/>
              <a:sym typeface="Cambria"/>
            </a:endParaRPr>
          </a:p>
          <a:p>
            <a:pPr indent="-381000" lvl="0" marL="457200" rtl="0" algn="l">
              <a:lnSpc>
                <a:spcPct val="115000"/>
              </a:lnSpc>
              <a:spcBef>
                <a:spcPts val="0"/>
              </a:spcBef>
              <a:spcAft>
                <a:spcPts val="0"/>
              </a:spcAft>
              <a:buSzPts val="2400"/>
              <a:buFont typeface="Cambria"/>
              <a:buAutoNum type="arabicPeriod"/>
            </a:pPr>
            <a:r>
              <a:rPr lang="en-IN" sz="2400">
                <a:latin typeface="Cambria"/>
                <a:ea typeface="Cambria"/>
                <a:cs typeface="Cambria"/>
                <a:sym typeface="Cambria"/>
              </a:rPr>
              <a:t>Smart Monitoring System for Hybrid Solar Power Plants Using IoT Technology, 2025.</a:t>
            </a:r>
            <a:endParaRPr sz="2400">
              <a:latin typeface="Cambria"/>
              <a:ea typeface="Cambria"/>
              <a:cs typeface="Cambria"/>
              <a:sym typeface="Cambria"/>
            </a:endParaRPr>
          </a:p>
          <a:p>
            <a:pPr indent="-381000" lvl="0" marL="457200" rtl="0" algn="l">
              <a:lnSpc>
                <a:spcPct val="115000"/>
              </a:lnSpc>
              <a:spcBef>
                <a:spcPts val="0"/>
              </a:spcBef>
              <a:spcAft>
                <a:spcPts val="0"/>
              </a:spcAft>
              <a:buSzPts val="2400"/>
              <a:buFont typeface="Cambria"/>
              <a:buAutoNum type="arabicPeriod"/>
            </a:pPr>
            <a:r>
              <a:rPr lang="en-IN" sz="2400">
                <a:latin typeface="Cambria"/>
                <a:ea typeface="Cambria"/>
                <a:cs typeface="Cambria"/>
                <a:sym typeface="Cambria"/>
              </a:rPr>
              <a:t>IoT-Based Solar Power Monitoring, International Journal of Engineering Research &amp; Technology (IJERT), 2023.</a:t>
            </a:r>
            <a:endParaRPr sz="2400">
              <a:latin typeface="Cambria"/>
              <a:ea typeface="Cambria"/>
              <a:cs typeface="Cambria"/>
              <a:sym typeface="Cambria"/>
            </a:endParaRPr>
          </a:p>
          <a:p>
            <a:pPr indent="-381000" lvl="0" marL="457200" rtl="0" algn="l">
              <a:lnSpc>
                <a:spcPct val="115000"/>
              </a:lnSpc>
              <a:spcBef>
                <a:spcPts val="0"/>
              </a:spcBef>
              <a:spcAft>
                <a:spcPts val="0"/>
              </a:spcAft>
              <a:buSzPts val="2400"/>
              <a:buFont typeface="Cambria"/>
              <a:buAutoNum type="arabicPeriod"/>
            </a:pPr>
            <a:r>
              <a:rPr lang="en-IN" sz="2400">
                <a:latin typeface="Cambria"/>
                <a:ea typeface="Cambria"/>
                <a:cs typeface="Cambria"/>
                <a:sym typeface="Cambria"/>
              </a:rPr>
              <a:t>Intelligent Monitoring and Maintenance of Solar Plants Using Real-Time Data Analysis, IEEE ICCE-Asia, 2017.</a:t>
            </a:r>
            <a:endParaRPr sz="2400">
              <a:latin typeface="Cambria"/>
              <a:ea typeface="Cambria"/>
              <a:cs typeface="Cambria"/>
              <a:sym typeface="Cambria"/>
            </a:endParaRPr>
          </a:p>
          <a:p>
            <a:pPr indent="0" lvl="0" marL="0" rtl="0" algn="l">
              <a:lnSpc>
                <a:spcPct val="100000"/>
              </a:lnSpc>
              <a:spcBef>
                <a:spcPts val="1200"/>
              </a:spcBef>
              <a:spcAft>
                <a:spcPts val="0"/>
              </a:spcAft>
              <a:buNone/>
            </a:pPr>
            <a:r>
              <a:t/>
            </a:r>
            <a:endParaRPr sz="3900">
              <a:latin typeface="Cambria"/>
              <a:ea typeface="Cambria"/>
              <a:cs typeface="Cambria"/>
              <a:sym typeface="Cambria"/>
            </a:endParaRPr>
          </a:p>
        </p:txBody>
      </p:sp>
      <p:sp>
        <p:nvSpPr>
          <p:cNvPr id="334" name="Google Shape;334;p10"/>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rPr lang="en-IN"/>
              <a:t>23-08-2026</a:t>
            </a:r>
            <a:endParaRPr/>
          </a:p>
        </p:txBody>
      </p:sp>
      <p:sp>
        <p:nvSpPr>
          <p:cNvPr id="335" name="Google Shape;335;p10"/>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IN"/>
              <a:t>‹#›</a:t>
            </a:fld>
            <a:endParaRPr/>
          </a:p>
        </p:txBody>
      </p:sp>
      <p:sp>
        <p:nvSpPr>
          <p:cNvPr id="336" name="Google Shape;336;p10"/>
          <p:cNvSpPr txBox="1"/>
          <p:nvPr/>
        </p:nvSpPr>
        <p:spPr>
          <a:xfrm>
            <a:off x="3454400" y="6211669"/>
            <a:ext cx="60960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mbria"/>
                <a:ea typeface="Cambria"/>
                <a:cs typeface="Cambria"/>
                <a:sym typeface="Cambria"/>
              </a:rPr>
              <a:t>DEPARTMENT OF COMPUTER ENGINEERING </a:t>
            </a:r>
            <a:endParaRPr b="0" i="0" sz="1400" u="none" cap="none" strike="noStrike">
              <a:solidFill>
                <a:srgbClr val="000000"/>
              </a:solidFill>
              <a:latin typeface="Cambria"/>
              <a:ea typeface="Cambria"/>
              <a:cs typeface="Cambria"/>
              <a:sym typeface="Cambria"/>
            </a:endParaRPr>
          </a:p>
          <a:p>
            <a:pPr indent="0" lvl="0" marL="0" marR="0" rtl="0" algn="ctr">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mbria"/>
                <a:ea typeface="Cambria"/>
                <a:cs typeface="Cambria"/>
                <a:sym typeface="Cambria"/>
              </a:rPr>
              <a:t>*Proprietary material of SILVER OAK UNIVERSITY</a:t>
            </a:r>
            <a:endParaRPr b="0" i="0" sz="1800" u="none" cap="none" strike="noStrike">
              <a:solidFill>
                <a:schemeClr val="dk1"/>
              </a:solidFill>
              <a:latin typeface="Cambria"/>
              <a:ea typeface="Cambria"/>
              <a:cs typeface="Cambria"/>
              <a:sym typeface="Cambria"/>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